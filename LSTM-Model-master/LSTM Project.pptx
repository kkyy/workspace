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7" r:id="rId2"/>
    <p:sldId id="285" r:id="rId3"/>
    <p:sldId id="308" r:id="rId4"/>
    <p:sldId id="299" r:id="rId5"/>
    <p:sldId id="301" r:id="rId6"/>
    <p:sldId id="287" r:id="rId7"/>
    <p:sldId id="304" r:id="rId8"/>
    <p:sldId id="305" r:id="rId9"/>
    <p:sldId id="264" r:id="rId10"/>
    <p:sldId id="309" r:id="rId11"/>
    <p:sldId id="307" r:id="rId12"/>
    <p:sldId id="288" r:id="rId13"/>
    <p:sldId id="310" r:id="rId14"/>
    <p:sldId id="293" r:id="rId15"/>
    <p:sldId id="294" r:id="rId16"/>
    <p:sldId id="314" r:id="rId17"/>
    <p:sldId id="313" r:id="rId18"/>
    <p:sldId id="312" r:id="rId19"/>
    <p:sldId id="295" r:id="rId20"/>
    <p:sldId id="315" r:id="rId21"/>
    <p:sldId id="296" r:id="rId22"/>
    <p:sldId id="316" r:id="rId23"/>
    <p:sldId id="289" r:id="rId24"/>
    <p:sldId id="29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697" autoAdjust="0"/>
    <p:restoredTop sz="94246" autoAdjust="0"/>
  </p:normalViewPr>
  <p:slideViewPr>
    <p:cSldViewPr snapToGrid="0">
      <p:cViewPr>
        <p:scale>
          <a:sx n="50" d="100"/>
          <a:sy n="50" d="100"/>
        </p:scale>
        <p:origin x="14" y="6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A708C6-08AE-5747-8B29-01693F315801}" type="doc">
      <dgm:prSet loTypeId="urn:microsoft.com/office/officeart/2005/8/layout/StepDownProcess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F8D8ED-AB1D-564B-A654-004072409C0F}">
      <dgm:prSet phldrT="[Text]" custT="1"/>
      <dgm:spPr/>
      <dgm:t>
        <a:bodyPr/>
        <a:lstStyle/>
        <a:p>
          <a:r>
            <a:rPr lang="en-US" altLang="zh-CN" sz="1800" dirty="0"/>
            <a:t>Load</a:t>
          </a:r>
          <a:r>
            <a:rPr lang="zh-CN" altLang="en-US" sz="1800" dirty="0"/>
            <a:t> </a:t>
          </a:r>
          <a:r>
            <a:rPr lang="en-US" altLang="zh-CN" sz="1800" dirty="0"/>
            <a:t>Data</a:t>
          </a:r>
          <a:endParaRPr lang="en-US" sz="1800" dirty="0"/>
        </a:p>
      </dgm:t>
    </dgm:pt>
    <dgm:pt modelId="{E593610A-EED8-A941-9A80-05AAA91CFD99}" type="parTrans" cxnId="{91D73CDB-1EDE-204E-98AF-8204F9ABC57D}">
      <dgm:prSet/>
      <dgm:spPr/>
      <dgm:t>
        <a:bodyPr/>
        <a:lstStyle/>
        <a:p>
          <a:endParaRPr lang="en-US"/>
        </a:p>
      </dgm:t>
    </dgm:pt>
    <dgm:pt modelId="{F5375A98-09C9-2844-B419-E52B37F31DA0}" type="sibTrans" cxnId="{91D73CDB-1EDE-204E-98AF-8204F9ABC57D}">
      <dgm:prSet/>
      <dgm:spPr/>
      <dgm:t>
        <a:bodyPr/>
        <a:lstStyle/>
        <a:p>
          <a:endParaRPr lang="en-US"/>
        </a:p>
      </dgm:t>
    </dgm:pt>
    <dgm:pt modelId="{0DF2AB2C-B11E-5D49-8A6C-58636279C555}">
      <dgm:prSet custT="1"/>
      <dgm:spPr/>
      <dgm:t>
        <a:bodyPr/>
        <a:lstStyle/>
        <a:p>
          <a:r>
            <a:rPr lang="en-US" altLang="zh-CN" sz="1800" dirty="0"/>
            <a:t>Preprocessing</a:t>
          </a:r>
          <a:r>
            <a:rPr lang="zh-CN" altLang="en-US" sz="1800" dirty="0"/>
            <a:t> </a:t>
          </a:r>
          <a:r>
            <a:rPr lang="en-US" altLang="zh-CN" sz="1800" dirty="0"/>
            <a:t>Data</a:t>
          </a:r>
          <a:endParaRPr lang="en-US" sz="1800" dirty="0"/>
        </a:p>
      </dgm:t>
    </dgm:pt>
    <dgm:pt modelId="{DD3DFB83-33A1-DD4B-8F91-5233ED30953A}" type="parTrans" cxnId="{CC05A57D-25C1-644F-872E-ACF5D5106C00}">
      <dgm:prSet/>
      <dgm:spPr/>
      <dgm:t>
        <a:bodyPr/>
        <a:lstStyle/>
        <a:p>
          <a:endParaRPr lang="en-US"/>
        </a:p>
      </dgm:t>
    </dgm:pt>
    <dgm:pt modelId="{0082573C-7493-CC4B-A611-6EE2F4C43F96}" type="sibTrans" cxnId="{CC05A57D-25C1-644F-872E-ACF5D5106C00}">
      <dgm:prSet/>
      <dgm:spPr/>
      <dgm:t>
        <a:bodyPr/>
        <a:lstStyle/>
        <a:p>
          <a:endParaRPr lang="en-US"/>
        </a:p>
      </dgm:t>
    </dgm:pt>
    <dgm:pt modelId="{6DAFB893-4487-4C34-89EE-6BDA4313855F}">
      <dgm:prSet custT="1"/>
      <dgm:spPr/>
      <dgm:t>
        <a:bodyPr/>
        <a:lstStyle/>
        <a:p>
          <a:r>
            <a:rPr lang="en-US" sz="1800" dirty="0"/>
            <a:t>Rolling Prediction</a:t>
          </a:r>
        </a:p>
      </dgm:t>
    </dgm:pt>
    <dgm:pt modelId="{5EDCC183-43FE-4F9C-9EC8-5B297FED7DAD}" type="parTrans" cxnId="{BFE714ED-4234-4583-B70D-1966D4CB92D6}">
      <dgm:prSet/>
      <dgm:spPr/>
      <dgm:t>
        <a:bodyPr/>
        <a:lstStyle/>
        <a:p>
          <a:endParaRPr lang="en-US"/>
        </a:p>
      </dgm:t>
    </dgm:pt>
    <dgm:pt modelId="{88C62F58-E521-4E0C-A587-C880C46EEA69}" type="sibTrans" cxnId="{BFE714ED-4234-4583-B70D-1966D4CB92D6}">
      <dgm:prSet/>
      <dgm:spPr/>
      <dgm:t>
        <a:bodyPr/>
        <a:lstStyle/>
        <a:p>
          <a:endParaRPr lang="en-US"/>
        </a:p>
      </dgm:t>
    </dgm:pt>
    <dgm:pt modelId="{70B34C54-FAF9-9A45-A30B-722B644F9B31}" type="pres">
      <dgm:prSet presAssocID="{F9A708C6-08AE-5747-8B29-01693F315801}" presName="rootnode" presStyleCnt="0">
        <dgm:presLayoutVars>
          <dgm:chMax/>
          <dgm:chPref/>
          <dgm:dir/>
          <dgm:animLvl val="lvl"/>
        </dgm:presLayoutVars>
      </dgm:prSet>
      <dgm:spPr/>
    </dgm:pt>
    <dgm:pt modelId="{B9669B0E-E9A2-1745-87A1-20C4170C5F15}" type="pres">
      <dgm:prSet presAssocID="{D3F8D8ED-AB1D-564B-A654-004072409C0F}" presName="composite" presStyleCnt="0"/>
      <dgm:spPr/>
    </dgm:pt>
    <dgm:pt modelId="{F56086E1-1A2A-564A-AC61-E1FFFDBA2809}" type="pres">
      <dgm:prSet presAssocID="{D3F8D8ED-AB1D-564B-A654-004072409C0F}" presName="bentUpArrow1" presStyleLbl="alignImgPlace1" presStyleIdx="0" presStyleCnt="2" custScaleX="39285" custScaleY="44176" custLinFactY="-10583" custLinFactNeighborX="21827" custLinFactNeighborY="-100000"/>
      <dgm:spPr/>
    </dgm:pt>
    <dgm:pt modelId="{2CF64390-29C6-8D4A-989F-2F6C6085E19D}" type="pres">
      <dgm:prSet presAssocID="{D3F8D8ED-AB1D-564B-A654-004072409C0F}" presName="ParentText" presStyleLbl="node1" presStyleIdx="0" presStyleCnt="3" custScaleX="75529" custScaleY="38941" custLinFactNeighborX="4711" custLinFactNeighborY="-77496">
        <dgm:presLayoutVars>
          <dgm:chMax val="1"/>
          <dgm:chPref val="1"/>
          <dgm:bulletEnabled val="1"/>
        </dgm:presLayoutVars>
      </dgm:prSet>
      <dgm:spPr/>
    </dgm:pt>
    <dgm:pt modelId="{C59E9276-36BA-DC4E-9199-4D0982ADDCF9}" type="pres">
      <dgm:prSet presAssocID="{D3F8D8ED-AB1D-564B-A654-004072409C0F}" presName="ChildText" presStyleLbl="revTx" presStyleIdx="0" presStyleCnt="2" custScaleX="244181" custLinFactNeighborX="73052" custLinFactNeighborY="-36456">
        <dgm:presLayoutVars>
          <dgm:chMax val="0"/>
          <dgm:chPref val="0"/>
          <dgm:bulletEnabled val="1"/>
        </dgm:presLayoutVars>
      </dgm:prSet>
      <dgm:spPr/>
    </dgm:pt>
    <dgm:pt modelId="{76F0163A-70C3-0045-AACD-B44B32ACFCFC}" type="pres">
      <dgm:prSet presAssocID="{F5375A98-09C9-2844-B419-E52B37F31DA0}" presName="sibTrans" presStyleCnt="0"/>
      <dgm:spPr/>
    </dgm:pt>
    <dgm:pt modelId="{ABF44998-1C7E-034D-AA0D-7B0CA1C6EAC6}" type="pres">
      <dgm:prSet presAssocID="{0DF2AB2C-B11E-5D49-8A6C-58636279C555}" presName="composite" presStyleCnt="0"/>
      <dgm:spPr/>
    </dgm:pt>
    <dgm:pt modelId="{CDFE3DB7-0D05-46C4-8929-C006B1539464}" type="pres">
      <dgm:prSet presAssocID="{0DF2AB2C-B11E-5D49-8A6C-58636279C555}" presName="bentUpArrow1" presStyleLbl="alignImgPlace1" presStyleIdx="1" presStyleCnt="2" custScaleX="47010" custScaleY="45433" custLinFactY="-30640" custLinFactNeighborX="-15030" custLinFactNeighborY="-100000"/>
      <dgm:spPr/>
    </dgm:pt>
    <dgm:pt modelId="{EFE03992-4828-A74D-85E2-FD2C16306CBE}" type="pres">
      <dgm:prSet presAssocID="{0DF2AB2C-B11E-5D49-8A6C-58636279C555}" presName="ParentText" presStyleLbl="node1" presStyleIdx="1" presStyleCnt="3" custScaleX="84481" custScaleY="40654" custLinFactNeighborX="-32165" custLinFactNeighborY="-68396">
        <dgm:presLayoutVars>
          <dgm:chMax val="1"/>
          <dgm:chPref val="1"/>
          <dgm:bulletEnabled val="1"/>
        </dgm:presLayoutVars>
      </dgm:prSet>
      <dgm:spPr/>
    </dgm:pt>
    <dgm:pt modelId="{593B5494-5423-4773-8318-5F5BE7FAB7B7}" type="pres">
      <dgm:prSet presAssocID="{0DF2AB2C-B11E-5D49-8A6C-58636279C555}" presName="ChildText" presStyleLbl="revTx" presStyleIdx="1" presStyleCnt="2" custLinFactX="103328" custLinFactY="-59382" custLinFactNeighborX="200000" custLinFactNeighborY="-100000">
        <dgm:presLayoutVars>
          <dgm:chMax val="0"/>
          <dgm:chPref val="0"/>
          <dgm:bulletEnabled val="1"/>
        </dgm:presLayoutVars>
      </dgm:prSet>
      <dgm:spPr/>
    </dgm:pt>
    <dgm:pt modelId="{28DD2DA2-421F-416D-A085-EF092F62B9CA}" type="pres">
      <dgm:prSet presAssocID="{0082573C-7493-CC4B-A611-6EE2F4C43F96}" presName="sibTrans" presStyleCnt="0"/>
      <dgm:spPr/>
    </dgm:pt>
    <dgm:pt modelId="{8E92CF8A-A0FC-4430-B2D2-886CBB6A99E0}" type="pres">
      <dgm:prSet presAssocID="{6DAFB893-4487-4C34-89EE-6BDA4313855F}" presName="composite" presStyleCnt="0"/>
      <dgm:spPr/>
    </dgm:pt>
    <dgm:pt modelId="{FB0CC13F-57E8-4103-AD40-7117CE5E15F6}" type="pres">
      <dgm:prSet presAssocID="{6DAFB893-4487-4C34-89EE-6BDA4313855F}" presName="ParentText" presStyleLbl="node1" presStyleIdx="2" presStyleCnt="3" custScaleX="83846" custScaleY="43470" custLinFactNeighborX="-43421" custLinFactNeighborY="-69257">
        <dgm:presLayoutVars>
          <dgm:chMax val="1"/>
          <dgm:chPref val="1"/>
          <dgm:bulletEnabled val="1"/>
        </dgm:presLayoutVars>
      </dgm:prSet>
      <dgm:spPr/>
    </dgm:pt>
  </dgm:ptLst>
  <dgm:cxnLst>
    <dgm:cxn modelId="{741D813D-6FD6-EB40-8055-E04AD00A27A7}" type="presOf" srcId="{0DF2AB2C-B11E-5D49-8A6C-58636279C555}" destId="{EFE03992-4828-A74D-85E2-FD2C16306CBE}" srcOrd="0" destOrd="0" presId="urn:microsoft.com/office/officeart/2005/8/layout/StepDownProcess"/>
    <dgm:cxn modelId="{CC05A57D-25C1-644F-872E-ACF5D5106C00}" srcId="{F9A708C6-08AE-5747-8B29-01693F315801}" destId="{0DF2AB2C-B11E-5D49-8A6C-58636279C555}" srcOrd="1" destOrd="0" parTransId="{DD3DFB83-33A1-DD4B-8F91-5233ED30953A}" sibTransId="{0082573C-7493-CC4B-A611-6EE2F4C43F96}"/>
    <dgm:cxn modelId="{F9E6A0CA-FA16-E848-9B05-894096D3D435}" type="presOf" srcId="{D3F8D8ED-AB1D-564B-A654-004072409C0F}" destId="{2CF64390-29C6-8D4A-989F-2F6C6085E19D}" srcOrd="0" destOrd="0" presId="urn:microsoft.com/office/officeart/2005/8/layout/StepDownProcess"/>
    <dgm:cxn modelId="{91D73CDB-1EDE-204E-98AF-8204F9ABC57D}" srcId="{F9A708C6-08AE-5747-8B29-01693F315801}" destId="{D3F8D8ED-AB1D-564B-A654-004072409C0F}" srcOrd="0" destOrd="0" parTransId="{E593610A-EED8-A941-9A80-05AAA91CFD99}" sibTransId="{F5375A98-09C9-2844-B419-E52B37F31DA0}"/>
    <dgm:cxn modelId="{BFE714ED-4234-4583-B70D-1966D4CB92D6}" srcId="{F9A708C6-08AE-5747-8B29-01693F315801}" destId="{6DAFB893-4487-4C34-89EE-6BDA4313855F}" srcOrd="2" destOrd="0" parTransId="{5EDCC183-43FE-4F9C-9EC8-5B297FED7DAD}" sibTransId="{88C62F58-E521-4E0C-A587-C880C46EEA69}"/>
    <dgm:cxn modelId="{73545BEE-30FE-F84E-8914-404848929D4A}" type="presOf" srcId="{F9A708C6-08AE-5747-8B29-01693F315801}" destId="{70B34C54-FAF9-9A45-A30B-722B644F9B31}" srcOrd="0" destOrd="0" presId="urn:microsoft.com/office/officeart/2005/8/layout/StepDownProcess"/>
    <dgm:cxn modelId="{E986D3FE-81B5-4B7B-A1E3-92305AA3457C}" type="presOf" srcId="{6DAFB893-4487-4C34-89EE-6BDA4313855F}" destId="{FB0CC13F-57E8-4103-AD40-7117CE5E15F6}" srcOrd="0" destOrd="0" presId="urn:microsoft.com/office/officeart/2005/8/layout/StepDownProcess"/>
    <dgm:cxn modelId="{58AAAEB0-A68B-834C-83A8-AEB1B05B4A91}" type="presParOf" srcId="{70B34C54-FAF9-9A45-A30B-722B644F9B31}" destId="{B9669B0E-E9A2-1745-87A1-20C4170C5F15}" srcOrd="0" destOrd="0" presId="urn:microsoft.com/office/officeart/2005/8/layout/StepDownProcess"/>
    <dgm:cxn modelId="{6C85A6B4-FCAF-734E-889A-CB0DC33B7699}" type="presParOf" srcId="{B9669B0E-E9A2-1745-87A1-20C4170C5F15}" destId="{F56086E1-1A2A-564A-AC61-E1FFFDBA2809}" srcOrd="0" destOrd="0" presId="urn:microsoft.com/office/officeart/2005/8/layout/StepDownProcess"/>
    <dgm:cxn modelId="{52288CAF-E94B-5740-8324-818BB71C0518}" type="presParOf" srcId="{B9669B0E-E9A2-1745-87A1-20C4170C5F15}" destId="{2CF64390-29C6-8D4A-989F-2F6C6085E19D}" srcOrd="1" destOrd="0" presId="urn:microsoft.com/office/officeart/2005/8/layout/StepDownProcess"/>
    <dgm:cxn modelId="{2F5BEF28-D508-FD44-8363-772BA53AFEA5}" type="presParOf" srcId="{B9669B0E-E9A2-1745-87A1-20C4170C5F15}" destId="{C59E9276-36BA-DC4E-9199-4D0982ADDCF9}" srcOrd="2" destOrd="0" presId="urn:microsoft.com/office/officeart/2005/8/layout/StepDownProcess"/>
    <dgm:cxn modelId="{2199B334-016F-1D47-B7DD-5D5C3C26596D}" type="presParOf" srcId="{70B34C54-FAF9-9A45-A30B-722B644F9B31}" destId="{76F0163A-70C3-0045-AACD-B44B32ACFCFC}" srcOrd="1" destOrd="0" presId="urn:microsoft.com/office/officeart/2005/8/layout/StepDownProcess"/>
    <dgm:cxn modelId="{656F4E87-4BE0-BB4F-9BEF-7AB95811E642}" type="presParOf" srcId="{70B34C54-FAF9-9A45-A30B-722B644F9B31}" destId="{ABF44998-1C7E-034D-AA0D-7B0CA1C6EAC6}" srcOrd="2" destOrd="0" presId="urn:microsoft.com/office/officeart/2005/8/layout/StepDownProcess"/>
    <dgm:cxn modelId="{9A886F35-98CB-4104-A076-AE2C9C30112C}" type="presParOf" srcId="{ABF44998-1C7E-034D-AA0D-7B0CA1C6EAC6}" destId="{CDFE3DB7-0D05-46C4-8929-C006B1539464}" srcOrd="0" destOrd="0" presId="urn:microsoft.com/office/officeart/2005/8/layout/StepDownProcess"/>
    <dgm:cxn modelId="{FD1CDC08-C2DF-B44D-BC7F-4A62DAAFA592}" type="presParOf" srcId="{ABF44998-1C7E-034D-AA0D-7B0CA1C6EAC6}" destId="{EFE03992-4828-A74D-85E2-FD2C16306CBE}" srcOrd="1" destOrd="0" presId="urn:microsoft.com/office/officeart/2005/8/layout/StepDownProcess"/>
    <dgm:cxn modelId="{D46CF44C-E868-41BD-B5CD-F05ED032D554}" type="presParOf" srcId="{ABF44998-1C7E-034D-AA0D-7B0CA1C6EAC6}" destId="{593B5494-5423-4773-8318-5F5BE7FAB7B7}" srcOrd="2" destOrd="0" presId="urn:microsoft.com/office/officeart/2005/8/layout/StepDownProcess"/>
    <dgm:cxn modelId="{CB19EE51-1B25-4A1F-BF0F-F1338D23EC19}" type="presParOf" srcId="{70B34C54-FAF9-9A45-A30B-722B644F9B31}" destId="{28DD2DA2-421F-416D-A085-EF092F62B9CA}" srcOrd="3" destOrd="0" presId="urn:microsoft.com/office/officeart/2005/8/layout/StepDownProcess"/>
    <dgm:cxn modelId="{FA2940E0-10D4-4813-B1BB-5591367DCD2E}" type="presParOf" srcId="{70B34C54-FAF9-9A45-A30B-722B644F9B31}" destId="{8E92CF8A-A0FC-4430-B2D2-886CBB6A99E0}" srcOrd="4" destOrd="0" presId="urn:microsoft.com/office/officeart/2005/8/layout/StepDownProcess"/>
    <dgm:cxn modelId="{34E950D2-67DA-45CD-B403-5A0F65956FF1}" type="presParOf" srcId="{8E92CF8A-A0FC-4430-B2D2-886CBB6A99E0}" destId="{FB0CC13F-57E8-4103-AD40-7117CE5E15F6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10B47D-32BB-0347-8674-AA6F7FF0E4AA}" type="doc">
      <dgm:prSet loTypeId="urn:microsoft.com/office/officeart/2005/8/layout/cycle5" loCatId="cycle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283C9810-FA2A-A54D-90D0-312083AA302D}">
      <dgm:prSet phldrT="[Text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altLang="zh-CN" dirty="0"/>
            <a:t>Convert</a:t>
          </a:r>
          <a:r>
            <a:rPr lang="zh-CN" altLang="en-US" dirty="0"/>
            <a:t> </a:t>
          </a:r>
          <a:r>
            <a:rPr lang="en-US" altLang="zh-CN" dirty="0"/>
            <a:t>to</a:t>
          </a:r>
          <a:r>
            <a:rPr lang="zh-CN" altLang="en-US" dirty="0"/>
            <a:t> </a:t>
          </a:r>
          <a:r>
            <a:rPr lang="en-US" altLang="zh-CN" dirty="0"/>
            <a:t>supervised</a:t>
          </a:r>
          <a:r>
            <a:rPr lang="zh-CN" altLang="en-US" dirty="0"/>
            <a:t> </a:t>
          </a:r>
          <a:r>
            <a:rPr lang="en-US" altLang="zh-CN" dirty="0"/>
            <a:t>data</a:t>
          </a:r>
          <a:r>
            <a:rPr lang="zh-CN" altLang="en-US" dirty="0"/>
            <a:t> </a:t>
          </a:r>
          <a:r>
            <a:rPr lang="en-US" altLang="zh-CN" dirty="0"/>
            <a:t>frame</a:t>
          </a:r>
          <a:endParaRPr lang="en-US" dirty="0"/>
        </a:p>
      </dgm:t>
    </dgm:pt>
    <dgm:pt modelId="{66519357-B2CD-9D4B-BA44-DCFA5D354FCE}" type="parTrans" cxnId="{DD26C16E-586A-604C-9750-B9AE2B31548F}">
      <dgm:prSet/>
      <dgm:spPr/>
      <dgm:t>
        <a:bodyPr/>
        <a:lstStyle/>
        <a:p>
          <a:endParaRPr lang="en-US"/>
        </a:p>
      </dgm:t>
    </dgm:pt>
    <dgm:pt modelId="{4E088792-1388-B249-B51B-8B6C3BEA8EE5}" type="sibTrans" cxnId="{DD26C16E-586A-604C-9750-B9AE2B31548F}">
      <dgm:prSet/>
      <dgm:spPr/>
      <dgm:t>
        <a:bodyPr/>
        <a:lstStyle/>
        <a:p>
          <a:endParaRPr lang="en-US"/>
        </a:p>
      </dgm:t>
    </dgm:pt>
    <dgm:pt modelId="{7F324F12-AC4D-2043-B079-0ED7FBDF59C7}">
      <dgm:prSet phldrT="[Text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altLang="zh-CN" dirty="0"/>
            <a:t>Train</a:t>
          </a:r>
          <a:r>
            <a:rPr lang="zh-CN" altLang="en-US" dirty="0"/>
            <a:t> </a:t>
          </a:r>
          <a:r>
            <a:rPr lang="en-US" altLang="zh-CN" dirty="0"/>
            <a:t>LSTM</a:t>
          </a:r>
          <a:endParaRPr lang="en-US" dirty="0"/>
        </a:p>
      </dgm:t>
    </dgm:pt>
    <dgm:pt modelId="{76BC6DFC-9BD5-364F-89D1-1A43FA3EAD82}" type="parTrans" cxnId="{25561538-158F-3141-991A-CA3E15888F45}">
      <dgm:prSet/>
      <dgm:spPr/>
      <dgm:t>
        <a:bodyPr/>
        <a:lstStyle/>
        <a:p>
          <a:endParaRPr lang="en-US"/>
        </a:p>
      </dgm:t>
    </dgm:pt>
    <dgm:pt modelId="{6EF4E300-7072-8D48-919E-903AB5DF2758}" type="sibTrans" cxnId="{25561538-158F-3141-991A-CA3E15888F45}">
      <dgm:prSet/>
      <dgm:spPr/>
      <dgm:t>
        <a:bodyPr/>
        <a:lstStyle/>
        <a:p>
          <a:endParaRPr lang="en-US"/>
        </a:p>
      </dgm:t>
    </dgm:pt>
    <dgm:pt modelId="{EA3B0A52-06F3-5148-8B80-DCAD25226097}">
      <dgm:prSet phldrT="[Text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altLang="zh-CN" dirty="0"/>
            <a:t>Find</a:t>
          </a:r>
          <a:r>
            <a:rPr lang="zh-CN" altLang="en-US" dirty="0"/>
            <a:t> </a:t>
          </a:r>
          <a:r>
            <a:rPr lang="en-US" altLang="zh-CN" dirty="0"/>
            <a:t>the</a:t>
          </a:r>
          <a:r>
            <a:rPr lang="zh-CN" altLang="en-US" dirty="0"/>
            <a:t> </a:t>
          </a:r>
          <a:r>
            <a:rPr lang="en-US" altLang="zh-CN" dirty="0"/>
            <a:t>best</a:t>
          </a:r>
          <a:r>
            <a:rPr lang="zh-CN" altLang="en-US" dirty="0"/>
            <a:t> </a:t>
          </a:r>
          <a:r>
            <a:rPr lang="en-US" altLang="zh-CN" dirty="0"/>
            <a:t>parameters</a:t>
          </a:r>
          <a:r>
            <a:rPr lang="zh-CN" altLang="en-US" dirty="0"/>
            <a:t> </a:t>
          </a:r>
          <a:r>
            <a:rPr lang="en-US" altLang="zh-CN" dirty="0"/>
            <a:t>by</a:t>
          </a:r>
          <a:r>
            <a:rPr lang="zh-CN" altLang="en-US" dirty="0"/>
            <a:t> </a:t>
          </a:r>
          <a:r>
            <a:rPr lang="en-US" altLang="zh-CN" dirty="0"/>
            <a:t>validation</a:t>
          </a:r>
          <a:endParaRPr lang="en-US" dirty="0"/>
        </a:p>
      </dgm:t>
    </dgm:pt>
    <dgm:pt modelId="{773BB326-5162-524A-BD2F-FF2D5732727D}" type="parTrans" cxnId="{E89E5197-9B57-6747-80B9-266D386C0EA2}">
      <dgm:prSet/>
      <dgm:spPr/>
      <dgm:t>
        <a:bodyPr/>
        <a:lstStyle/>
        <a:p>
          <a:endParaRPr lang="en-US"/>
        </a:p>
      </dgm:t>
    </dgm:pt>
    <dgm:pt modelId="{14B4BFBB-AF90-5544-B70D-D8AD858CAB34}" type="sibTrans" cxnId="{E89E5197-9B57-6747-80B9-266D386C0EA2}">
      <dgm:prSet/>
      <dgm:spPr/>
      <dgm:t>
        <a:bodyPr/>
        <a:lstStyle/>
        <a:p>
          <a:endParaRPr lang="en-US"/>
        </a:p>
      </dgm:t>
    </dgm:pt>
    <dgm:pt modelId="{1BDB3815-F5E4-034B-ADCF-62336FF1F952}">
      <dgm:prSet phldrT="[Text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altLang="zh-CN" sz="1800" dirty="0"/>
            <a:t>Get</a:t>
          </a:r>
          <a:r>
            <a:rPr lang="zh-CN" altLang="en-US" sz="1800" dirty="0"/>
            <a:t> </a:t>
          </a:r>
          <a:r>
            <a:rPr lang="en-US" altLang="zh-CN" sz="1800" dirty="0"/>
            <a:t>block</a:t>
          </a:r>
          <a:r>
            <a:rPr lang="zh-CN" altLang="en-US" sz="1800" dirty="0"/>
            <a:t> </a:t>
          </a:r>
          <a:r>
            <a:rPr lang="en-US" altLang="zh-CN" sz="1800" dirty="0"/>
            <a:t>of</a:t>
          </a:r>
          <a:r>
            <a:rPr lang="zh-CN" altLang="en-US" sz="1800" dirty="0"/>
            <a:t> </a:t>
          </a:r>
          <a:r>
            <a:rPr lang="en-US" altLang="zh-CN" sz="1800" dirty="0"/>
            <a:t>data</a:t>
          </a:r>
          <a:endParaRPr lang="en-US" sz="1800" dirty="0"/>
        </a:p>
      </dgm:t>
    </dgm:pt>
    <dgm:pt modelId="{27D7773D-1B47-8B40-822B-3CFA78C0F6B4}" type="parTrans" cxnId="{86D93CA8-DCF0-A846-BF88-C54A1C0967CE}">
      <dgm:prSet/>
      <dgm:spPr/>
      <dgm:t>
        <a:bodyPr/>
        <a:lstStyle/>
        <a:p>
          <a:endParaRPr lang="en-US"/>
        </a:p>
      </dgm:t>
    </dgm:pt>
    <dgm:pt modelId="{C9413424-DED9-524F-998E-4ECBA6258C81}" type="sibTrans" cxnId="{86D93CA8-DCF0-A846-BF88-C54A1C0967CE}">
      <dgm:prSet/>
      <dgm:spPr/>
      <dgm:t>
        <a:bodyPr/>
        <a:lstStyle/>
        <a:p>
          <a:endParaRPr lang="en-US"/>
        </a:p>
      </dgm:t>
    </dgm:pt>
    <dgm:pt modelId="{254F8289-06EE-4347-BFC2-E39F6CEAD364}">
      <dgm:prSet phldrT="[Text]"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altLang="zh-CN" sz="1600" dirty="0"/>
            <a:t>Predict</a:t>
          </a:r>
          <a:r>
            <a:rPr lang="zh-CN" altLang="en-US" sz="1600" dirty="0"/>
            <a:t> </a:t>
          </a:r>
          <a:r>
            <a:rPr lang="en-US" altLang="zh-CN" sz="1600" dirty="0"/>
            <a:t>next</a:t>
          </a:r>
          <a:r>
            <a:rPr lang="zh-CN" altLang="en-US" sz="1600" dirty="0"/>
            <a:t> </a:t>
          </a:r>
          <a:r>
            <a:rPr lang="en-US" altLang="zh-CN" sz="1600" dirty="0"/>
            <a:t>month’s</a:t>
          </a:r>
          <a:r>
            <a:rPr lang="zh-CN" altLang="en-US" sz="1600" dirty="0"/>
            <a:t> </a:t>
          </a:r>
          <a:r>
            <a:rPr lang="en-US" altLang="zh-CN" sz="1600" dirty="0"/>
            <a:t>performance</a:t>
          </a:r>
          <a:endParaRPr lang="en-US" sz="1600" dirty="0"/>
        </a:p>
      </dgm:t>
    </dgm:pt>
    <dgm:pt modelId="{90CBA5DA-47CB-6B4E-8645-D122FD9E21C2}" type="sibTrans" cxnId="{8357E455-D614-504E-818C-6BC8BCCFEF0E}">
      <dgm:prSet/>
      <dgm:spPr/>
      <dgm:t>
        <a:bodyPr/>
        <a:lstStyle/>
        <a:p>
          <a:endParaRPr lang="en-US"/>
        </a:p>
      </dgm:t>
    </dgm:pt>
    <dgm:pt modelId="{19A77F75-734E-A94B-AEBA-A0C6662F306A}" type="parTrans" cxnId="{8357E455-D614-504E-818C-6BC8BCCFEF0E}">
      <dgm:prSet/>
      <dgm:spPr/>
      <dgm:t>
        <a:bodyPr/>
        <a:lstStyle/>
        <a:p>
          <a:endParaRPr lang="en-US"/>
        </a:p>
      </dgm:t>
    </dgm:pt>
    <dgm:pt modelId="{7F2126B3-0462-5248-B623-BC979C2790A3}">
      <dgm:prSet custT="1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altLang="zh-CN" sz="1800" dirty="0"/>
            <a:t>Record</a:t>
          </a:r>
          <a:r>
            <a:rPr lang="zh-CN" altLang="en-US" sz="1800" dirty="0"/>
            <a:t> </a:t>
          </a:r>
          <a:r>
            <a:rPr lang="en-US" altLang="zh-CN" sz="1800" dirty="0"/>
            <a:t>prediction</a:t>
          </a:r>
          <a:endParaRPr lang="en-US" sz="1800" dirty="0"/>
        </a:p>
      </dgm:t>
    </dgm:pt>
    <dgm:pt modelId="{F4004C09-EF3D-9B43-9882-1CA8F181B094}" type="sibTrans" cxnId="{43E0B32A-3980-1144-85F9-EEB096C1005F}">
      <dgm:prSet/>
      <dgm:spPr/>
      <dgm:t>
        <a:bodyPr/>
        <a:lstStyle/>
        <a:p>
          <a:endParaRPr lang="en-US"/>
        </a:p>
      </dgm:t>
    </dgm:pt>
    <dgm:pt modelId="{ABA0DE5C-A573-FB45-AE07-FEE70A63A339}" type="parTrans" cxnId="{43E0B32A-3980-1144-85F9-EEB096C1005F}">
      <dgm:prSet/>
      <dgm:spPr/>
      <dgm:t>
        <a:bodyPr/>
        <a:lstStyle/>
        <a:p>
          <a:endParaRPr lang="en-US"/>
        </a:p>
      </dgm:t>
    </dgm:pt>
    <dgm:pt modelId="{5164FFC6-2D41-4168-8BEA-7B1296494EF2}" type="pres">
      <dgm:prSet presAssocID="{E610B47D-32BB-0347-8674-AA6F7FF0E4AA}" presName="cycle" presStyleCnt="0">
        <dgm:presLayoutVars>
          <dgm:dir/>
          <dgm:resizeHandles val="exact"/>
        </dgm:presLayoutVars>
      </dgm:prSet>
      <dgm:spPr/>
    </dgm:pt>
    <dgm:pt modelId="{D55BEF77-A9A3-49CF-BE7E-37FB4BAD6813}" type="pres">
      <dgm:prSet presAssocID="{283C9810-FA2A-A54D-90D0-312083AA302D}" presName="node" presStyleLbl="node1" presStyleIdx="0" presStyleCnt="6">
        <dgm:presLayoutVars>
          <dgm:bulletEnabled val="1"/>
        </dgm:presLayoutVars>
      </dgm:prSet>
      <dgm:spPr/>
    </dgm:pt>
    <dgm:pt modelId="{5CC16F96-250B-43AB-A141-A0C7B5AE7597}" type="pres">
      <dgm:prSet presAssocID="{283C9810-FA2A-A54D-90D0-312083AA302D}" presName="spNode" presStyleCnt="0"/>
      <dgm:spPr/>
    </dgm:pt>
    <dgm:pt modelId="{650E1AE2-AD43-4E1C-9283-04BE31D1F075}" type="pres">
      <dgm:prSet presAssocID="{4E088792-1388-B249-B51B-8B6C3BEA8EE5}" presName="sibTrans" presStyleLbl="sibTrans1D1" presStyleIdx="0" presStyleCnt="6"/>
      <dgm:spPr/>
    </dgm:pt>
    <dgm:pt modelId="{78C32C26-6A5D-4DD1-9FD1-E869B55E2A4A}" type="pres">
      <dgm:prSet presAssocID="{7F324F12-AC4D-2043-B079-0ED7FBDF59C7}" presName="node" presStyleLbl="node1" presStyleIdx="1" presStyleCnt="6">
        <dgm:presLayoutVars>
          <dgm:bulletEnabled val="1"/>
        </dgm:presLayoutVars>
      </dgm:prSet>
      <dgm:spPr/>
    </dgm:pt>
    <dgm:pt modelId="{81DE28E3-4011-4D0E-8BCB-A9D820393966}" type="pres">
      <dgm:prSet presAssocID="{7F324F12-AC4D-2043-B079-0ED7FBDF59C7}" presName="spNode" presStyleCnt="0"/>
      <dgm:spPr/>
    </dgm:pt>
    <dgm:pt modelId="{4F6EC38E-DC51-44FB-9C19-8D871E8DE306}" type="pres">
      <dgm:prSet presAssocID="{6EF4E300-7072-8D48-919E-903AB5DF2758}" presName="sibTrans" presStyleLbl="sibTrans1D1" presStyleIdx="1" presStyleCnt="6"/>
      <dgm:spPr/>
    </dgm:pt>
    <dgm:pt modelId="{EA5146B7-94D6-49CA-B9E2-47D93D57CAAA}" type="pres">
      <dgm:prSet presAssocID="{EA3B0A52-06F3-5148-8B80-DCAD25226097}" presName="node" presStyleLbl="node1" presStyleIdx="2" presStyleCnt="6">
        <dgm:presLayoutVars>
          <dgm:bulletEnabled val="1"/>
        </dgm:presLayoutVars>
      </dgm:prSet>
      <dgm:spPr/>
    </dgm:pt>
    <dgm:pt modelId="{3EA9F4DA-2E1B-4DFB-840B-2773A4DA2315}" type="pres">
      <dgm:prSet presAssocID="{EA3B0A52-06F3-5148-8B80-DCAD25226097}" presName="spNode" presStyleCnt="0"/>
      <dgm:spPr/>
    </dgm:pt>
    <dgm:pt modelId="{542A8A52-7744-4581-AF1A-F8167623C82A}" type="pres">
      <dgm:prSet presAssocID="{14B4BFBB-AF90-5544-B70D-D8AD858CAB34}" presName="sibTrans" presStyleLbl="sibTrans1D1" presStyleIdx="2" presStyleCnt="6"/>
      <dgm:spPr/>
    </dgm:pt>
    <dgm:pt modelId="{4F4D2970-9219-4445-99B4-337E67AA472E}" type="pres">
      <dgm:prSet presAssocID="{254F8289-06EE-4347-BFC2-E39F6CEAD364}" presName="node" presStyleLbl="node1" presStyleIdx="3" presStyleCnt="6" custScaleX="108293">
        <dgm:presLayoutVars>
          <dgm:bulletEnabled val="1"/>
        </dgm:presLayoutVars>
      </dgm:prSet>
      <dgm:spPr/>
    </dgm:pt>
    <dgm:pt modelId="{CB2A755F-7F2C-4FC7-951B-5D71DD66714B}" type="pres">
      <dgm:prSet presAssocID="{254F8289-06EE-4347-BFC2-E39F6CEAD364}" presName="spNode" presStyleCnt="0"/>
      <dgm:spPr/>
    </dgm:pt>
    <dgm:pt modelId="{16CDCFE0-2BEF-425E-915D-B30DCB6EA374}" type="pres">
      <dgm:prSet presAssocID="{90CBA5DA-47CB-6B4E-8645-D122FD9E21C2}" presName="sibTrans" presStyleLbl="sibTrans1D1" presStyleIdx="3" presStyleCnt="6"/>
      <dgm:spPr/>
    </dgm:pt>
    <dgm:pt modelId="{9C2EB03B-346C-443C-8B1D-919D636EEE88}" type="pres">
      <dgm:prSet presAssocID="{7F2126B3-0462-5248-B623-BC979C2790A3}" presName="node" presStyleLbl="node1" presStyleIdx="4" presStyleCnt="6">
        <dgm:presLayoutVars>
          <dgm:bulletEnabled val="1"/>
        </dgm:presLayoutVars>
      </dgm:prSet>
      <dgm:spPr/>
    </dgm:pt>
    <dgm:pt modelId="{815894F8-4643-4A44-96AF-F1587227C5B1}" type="pres">
      <dgm:prSet presAssocID="{7F2126B3-0462-5248-B623-BC979C2790A3}" presName="spNode" presStyleCnt="0"/>
      <dgm:spPr/>
    </dgm:pt>
    <dgm:pt modelId="{375BDBC1-7845-4F1A-B707-E3DF6925369E}" type="pres">
      <dgm:prSet presAssocID="{F4004C09-EF3D-9B43-9882-1CA8F181B094}" presName="sibTrans" presStyleLbl="sibTrans1D1" presStyleIdx="4" presStyleCnt="6"/>
      <dgm:spPr/>
    </dgm:pt>
    <dgm:pt modelId="{A0419A6C-2347-4E7A-9B1B-97F5474DF097}" type="pres">
      <dgm:prSet presAssocID="{1BDB3815-F5E4-034B-ADCF-62336FF1F952}" presName="node" presStyleLbl="node1" presStyleIdx="5" presStyleCnt="6">
        <dgm:presLayoutVars>
          <dgm:bulletEnabled val="1"/>
        </dgm:presLayoutVars>
      </dgm:prSet>
      <dgm:spPr/>
    </dgm:pt>
    <dgm:pt modelId="{DAD2876C-1C11-4454-BAE1-2EBCB9298CD3}" type="pres">
      <dgm:prSet presAssocID="{1BDB3815-F5E4-034B-ADCF-62336FF1F952}" presName="spNode" presStyleCnt="0"/>
      <dgm:spPr/>
    </dgm:pt>
    <dgm:pt modelId="{D0AB9CD0-285D-4793-9CC3-780D49BDAA86}" type="pres">
      <dgm:prSet presAssocID="{C9413424-DED9-524F-998E-4ECBA6258C81}" presName="sibTrans" presStyleLbl="sibTrans1D1" presStyleIdx="5" presStyleCnt="6"/>
      <dgm:spPr/>
    </dgm:pt>
  </dgm:ptLst>
  <dgm:cxnLst>
    <dgm:cxn modelId="{0ABA2305-7634-439F-A1AD-6D7AEC8BA3C8}" type="presOf" srcId="{7F324F12-AC4D-2043-B079-0ED7FBDF59C7}" destId="{78C32C26-6A5D-4DD1-9FD1-E869B55E2A4A}" srcOrd="0" destOrd="0" presId="urn:microsoft.com/office/officeart/2005/8/layout/cycle5"/>
    <dgm:cxn modelId="{90C23E25-5B5D-4321-B98C-A4817272B2D0}" type="presOf" srcId="{283C9810-FA2A-A54D-90D0-312083AA302D}" destId="{D55BEF77-A9A3-49CF-BE7E-37FB4BAD6813}" srcOrd="0" destOrd="0" presId="urn:microsoft.com/office/officeart/2005/8/layout/cycle5"/>
    <dgm:cxn modelId="{ED09D025-A447-4740-9DCC-BFD658EA6FCB}" type="presOf" srcId="{F4004C09-EF3D-9B43-9882-1CA8F181B094}" destId="{375BDBC1-7845-4F1A-B707-E3DF6925369E}" srcOrd="0" destOrd="0" presId="urn:microsoft.com/office/officeart/2005/8/layout/cycle5"/>
    <dgm:cxn modelId="{43E0B32A-3980-1144-85F9-EEB096C1005F}" srcId="{E610B47D-32BB-0347-8674-AA6F7FF0E4AA}" destId="{7F2126B3-0462-5248-B623-BC979C2790A3}" srcOrd="4" destOrd="0" parTransId="{ABA0DE5C-A573-FB45-AE07-FEE70A63A339}" sibTransId="{F4004C09-EF3D-9B43-9882-1CA8F181B094}"/>
    <dgm:cxn modelId="{4F3F5D34-D691-4655-92A5-2328A8CC5EA5}" type="presOf" srcId="{6EF4E300-7072-8D48-919E-903AB5DF2758}" destId="{4F6EC38E-DC51-44FB-9C19-8D871E8DE306}" srcOrd="0" destOrd="0" presId="urn:microsoft.com/office/officeart/2005/8/layout/cycle5"/>
    <dgm:cxn modelId="{25561538-158F-3141-991A-CA3E15888F45}" srcId="{E610B47D-32BB-0347-8674-AA6F7FF0E4AA}" destId="{7F324F12-AC4D-2043-B079-0ED7FBDF59C7}" srcOrd="1" destOrd="0" parTransId="{76BC6DFC-9BD5-364F-89D1-1A43FA3EAD82}" sibTransId="{6EF4E300-7072-8D48-919E-903AB5DF2758}"/>
    <dgm:cxn modelId="{2D82B041-D203-4877-AC6C-52102C2CC60F}" type="presOf" srcId="{EA3B0A52-06F3-5148-8B80-DCAD25226097}" destId="{EA5146B7-94D6-49CA-B9E2-47D93D57CAAA}" srcOrd="0" destOrd="0" presId="urn:microsoft.com/office/officeart/2005/8/layout/cycle5"/>
    <dgm:cxn modelId="{DD26C16E-586A-604C-9750-B9AE2B31548F}" srcId="{E610B47D-32BB-0347-8674-AA6F7FF0E4AA}" destId="{283C9810-FA2A-A54D-90D0-312083AA302D}" srcOrd="0" destOrd="0" parTransId="{66519357-B2CD-9D4B-BA44-DCFA5D354FCE}" sibTransId="{4E088792-1388-B249-B51B-8B6C3BEA8EE5}"/>
    <dgm:cxn modelId="{8357E455-D614-504E-818C-6BC8BCCFEF0E}" srcId="{E610B47D-32BB-0347-8674-AA6F7FF0E4AA}" destId="{254F8289-06EE-4347-BFC2-E39F6CEAD364}" srcOrd="3" destOrd="0" parTransId="{19A77F75-734E-A94B-AEBA-A0C6662F306A}" sibTransId="{90CBA5DA-47CB-6B4E-8645-D122FD9E21C2}"/>
    <dgm:cxn modelId="{17F72A7C-51F0-476E-B5EB-A54B522805D2}" type="presOf" srcId="{E610B47D-32BB-0347-8674-AA6F7FF0E4AA}" destId="{5164FFC6-2D41-4168-8BEA-7B1296494EF2}" srcOrd="0" destOrd="0" presId="urn:microsoft.com/office/officeart/2005/8/layout/cycle5"/>
    <dgm:cxn modelId="{BE4A268C-8179-48C9-BA70-BAA7DF43A5EF}" type="presOf" srcId="{7F2126B3-0462-5248-B623-BC979C2790A3}" destId="{9C2EB03B-346C-443C-8B1D-919D636EEE88}" srcOrd="0" destOrd="0" presId="urn:microsoft.com/office/officeart/2005/8/layout/cycle5"/>
    <dgm:cxn modelId="{E89E5197-9B57-6747-80B9-266D386C0EA2}" srcId="{E610B47D-32BB-0347-8674-AA6F7FF0E4AA}" destId="{EA3B0A52-06F3-5148-8B80-DCAD25226097}" srcOrd="2" destOrd="0" parTransId="{773BB326-5162-524A-BD2F-FF2D5732727D}" sibTransId="{14B4BFBB-AF90-5544-B70D-D8AD858CAB34}"/>
    <dgm:cxn modelId="{86D93CA8-DCF0-A846-BF88-C54A1C0967CE}" srcId="{E610B47D-32BB-0347-8674-AA6F7FF0E4AA}" destId="{1BDB3815-F5E4-034B-ADCF-62336FF1F952}" srcOrd="5" destOrd="0" parTransId="{27D7773D-1B47-8B40-822B-3CFA78C0F6B4}" sibTransId="{C9413424-DED9-524F-998E-4ECBA6258C81}"/>
    <dgm:cxn modelId="{7EE879B2-B3F1-479B-878F-98F8D37D4475}" type="presOf" srcId="{14B4BFBB-AF90-5544-B70D-D8AD858CAB34}" destId="{542A8A52-7744-4581-AF1A-F8167623C82A}" srcOrd="0" destOrd="0" presId="urn:microsoft.com/office/officeart/2005/8/layout/cycle5"/>
    <dgm:cxn modelId="{EE09DFB2-87ED-491C-ACED-4A53AC666AB7}" type="presOf" srcId="{C9413424-DED9-524F-998E-4ECBA6258C81}" destId="{D0AB9CD0-285D-4793-9CC3-780D49BDAA86}" srcOrd="0" destOrd="0" presId="urn:microsoft.com/office/officeart/2005/8/layout/cycle5"/>
    <dgm:cxn modelId="{2B4831BC-0D50-4248-92CA-99D6E26DFFE2}" type="presOf" srcId="{90CBA5DA-47CB-6B4E-8645-D122FD9E21C2}" destId="{16CDCFE0-2BEF-425E-915D-B30DCB6EA374}" srcOrd="0" destOrd="0" presId="urn:microsoft.com/office/officeart/2005/8/layout/cycle5"/>
    <dgm:cxn modelId="{FDC817BD-4FC2-46E5-ABE2-395A78857AA1}" type="presOf" srcId="{254F8289-06EE-4347-BFC2-E39F6CEAD364}" destId="{4F4D2970-9219-4445-99B4-337E67AA472E}" srcOrd="0" destOrd="0" presId="urn:microsoft.com/office/officeart/2005/8/layout/cycle5"/>
    <dgm:cxn modelId="{4ED363C4-8FD6-434E-8524-335E8092A592}" type="presOf" srcId="{4E088792-1388-B249-B51B-8B6C3BEA8EE5}" destId="{650E1AE2-AD43-4E1C-9283-04BE31D1F075}" srcOrd="0" destOrd="0" presId="urn:microsoft.com/office/officeart/2005/8/layout/cycle5"/>
    <dgm:cxn modelId="{CF4F1FC7-BAC2-4A4A-9BAF-C6AA30DCEC81}" type="presOf" srcId="{1BDB3815-F5E4-034B-ADCF-62336FF1F952}" destId="{A0419A6C-2347-4E7A-9B1B-97F5474DF097}" srcOrd="0" destOrd="0" presId="urn:microsoft.com/office/officeart/2005/8/layout/cycle5"/>
    <dgm:cxn modelId="{56797456-345F-4AA2-B542-5F758B80816F}" type="presParOf" srcId="{5164FFC6-2D41-4168-8BEA-7B1296494EF2}" destId="{D55BEF77-A9A3-49CF-BE7E-37FB4BAD6813}" srcOrd="0" destOrd="0" presId="urn:microsoft.com/office/officeart/2005/8/layout/cycle5"/>
    <dgm:cxn modelId="{A3F35F72-7B79-4BB9-BEEC-A5886410EABB}" type="presParOf" srcId="{5164FFC6-2D41-4168-8BEA-7B1296494EF2}" destId="{5CC16F96-250B-43AB-A141-A0C7B5AE7597}" srcOrd="1" destOrd="0" presId="urn:microsoft.com/office/officeart/2005/8/layout/cycle5"/>
    <dgm:cxn modelId="{FBE4563D-5D8E-444D-9C21-412F78187DB8}" type="presParOf" srcId="{5164FFC6-2D41-4168-8BEA-7B1296494EF2}" destId="{650E1AE2-AD43-4E1C-9283-04BE31D1F075}" srcOrd="2" destOrd="0" presId="urn:microsoft.com/office/officeart/2005/8/layout/cycle5"/>
    <dgm:cxn modelId="{7F06DC69-8BD6-46A6-A477-9DADA3B398D9}" type="presParOf" srcId="{5164FFC6-2D41-4168-8BEA-7B1296494EF2}" destId="{78C32C26-6A5D-4DD1-9FD1-E869B55E2A4A}" srcOrd="3" destOrd="0" presId="urn:microsoft.com/office/officeart/2005/8/layout/cycle5"/>
    <dgm:cxn modelId="{78B5130A-F596-42EF-984A-593FD9866D86}" type="presParOf" srcId="{5164FFC6-2D41-4168-8BEA-7B1296494EF2}" destId="{81DE28E3-4011-4D0E-8BCB-A9D820393966}" srcOrd="4" destOrd="0" presId="urn:microsoft.com/office/officeart/2005/8/layout/cycle5"/>
    <dgm:cxn modelId="{5D486786-20B9-4A21-A393-DFED557DA588}" type="presParOf" srcId="{5164FFC6-2D41-4168-8BEA-7B1296494EF2}" destId="{4F6EC38E-DC51-44FB-9C19-8D871E8DE306}" srcOrd="5" destOrd="0" presId="urn:microsoft.com/office/officeart/2005/8/layout/cycle5"/>
    <dgm:cxn modelId="{20D3CD90-6BE1-42C6-A2EB-147C83BFF11A}" type="presParOf" srcId="{5164FFC6-2D41-4168-8BEA-7B1296494EF2}" destId="{EA5146B7-94D6-49CA-B9E2-47D93D57CAAA}" srcOrd="6" destOrd="0" presId="urn:microsoft.com/office/officeart/2005/8/layout/cycle5"/>
    <dgm:cxn modelId="{C66BE3F9-316A-456D-A3E6-B07E685753A5}" type="presParOf" srcId="{5164FFC6-2D41-4168-8BEA-7B1296494EF2}" destId="{3EA9F4DA-2E1B-4DFB-840B-2773A4DA2315}" srcOrd="7" destOrd="0" presId="urn:microsoft.com/office/officeart/2005/8/layout/cycle5"/>
    <dgm:cxn modelId="{C960ED4A-B976-4D88-9815-4C4AA1F4CA43}" type="presParOf" srcId="{5164FFC6-2D41-4168-8BEA-7B1296494EF2}" destId="{542A8A52-7744-4581-AF1A-F8167623C82A}" srcOrd="8" destOrd="0" presId="urn:microsoft.com/office/officeart/2005/8/layout/cycle5"/>
    <dgm:cxn modelId="{6112D378-F53F-4C19-8ECE-73E03F6A9375}" type="presParOf" srcId="{5164FFC6-2D41-4168-8BEA-7B1296494EF2}" destId="{4F4D2970-9219-4445-99B4-337E67AA472E}" srcOrd="9" destOrd="0" presId="urn:microsoft.com/office/officeart/2005/8/layout/cycle5"/>
    <dgm:cxn modelId="{D647BCCA-2016-41B0-ABCF-E5A549850DD2}" type="presParOf" srcId="{5164FFC6-2D41-4168-8BEA-7B1296494EF2}" destId="{CB2A755F-7F2C-4FC7-951B-5D71DD66714B}" srcOrd="10" destOrd="0" presId="urn:microsoft.com/office/officeart/2005/8/layout/cycle5"/>
    <dgm:cxn modelId="{E8982562-1C63-41C2-A935-DC08C50F5143}" type="presParOf" srcId="{5164FFC6-2D41-4168-8BEA-7B1296494EF2}" destId="{16CDCFE0-2BEF-425E-915D-B30DCB6EA374}" srcOrd="11" destOrd="0" presId="urn:microsoft.com/office/officeart/2005/8/layout/cycle5"/>
    <dgm:cxn modelId="{6B90DC9C-401C-48FA-96E3-881D0F424B00}" type="presParOf" srcId="{5164FFC6-2D41-4168-8BEA-7B1296494EF2}" destId="{9C2EB03B-346C-443C-8B1D-919D636EEE88}" srcOrd="12" destOrd="0" presId="urn:microsoft.com/office/officeart/2005/8/layout/cycle5"/>
    <dgm:cxn modelId="{EFAA5144-573C-4247-8A06-05D4F5C3BFD9}" type="presParOf" srcId="{5164FFC6-2D41-4168-8BEA-7B1296494EF2}" destId="{815894F8-4643-4A44-96AF-F1587227C5B1}" srcOrd="13" destOrd="0" presId="urn:microsoft.com/office/officeart/2005/8/layout/cycle5"/>
    <dgm:cxn modelId="{E688524A-D2CA-4B31-94E8-920788391823}" type="presParOf" srcId="{5164FFC6-2D41-4168-8BEA-7B1296494EF2}" destId="{375BDBC1-7845-4F1A-B707-E3DF6925369E}" srcOrd="14" destOrd="0" presId="urn:microsoft.com/office/officeart/2005/8/layout/cycle5"/>
    <dgm:cxn modelId="{33078869-C764-491C-ACF0-B756B44E33CA}" type="presParOf" srcId="{5164FFC6-2D41-4168-8BEA-7B1296494EF2}" destId="{A0419A6C-2347-4E7A-9B1B-97F5474DF097}" srcOrd="15" destOrd="0" presId="urn:microsoft.com/office/officeart/2005/8/layout/cycle5"/>
    <dgm:cxn modelId="{942CCF3F-FCBF-450B-9D74-CA9C2C01230A}" type="presParOf" srcId="{5164FFC6-2D41-4168-8BEA-7B1296494EF2}" destId="{DAD2876C-1C11-4454-BAE1-2EBCB9298CD3}" srcOrd="16" destOrd="0" presId="urn:microsoft.com/office/officeart/2005/8/layout/cycle5"/>
    <dgm:cxn modelId="{7843698F-C527-4A7B-8005-5E54686DC9DF}" type="presParOf" srcId="{5164FFC6-2D41-4168-8BEA-7B1296494EF2}" destId="{D0AB9CD0-285D-4793-9CC3-780D49BDAA86}" srcOrd="17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6086E1-1A2A-564A-AC61-E1FFFDBA2809}">
      <dsp:nvSpPr>
        <dsp:cNvPr id="0" name=""/>
        <dsp:cNvSpPr/>
      </dsp:nvSpPr>
      <dsp:spPr>
        <a:xfrm rot="5400000">
          <a:off x="756593" y="864127"/>
          <a:ext cx="568418" cy="575477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CF64390-29C6-8D4A-989F-2F6C6085E19D}">
      <dsp:nvSpPr>
        <dsp:cNvPr id="0" name=""/>
        <dsp:cNvSpPr/>
      </dsp:nvSpPr>
      <dsp:spPr>
        <a:xfrm>
          <a:off x="103879" y="0"/>
          <a:ext cx="1636009" cy="590414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Load</a:t>
          </a:r>
          <a:r>
            <a:rPr lang="zh-CN" altLang="en-US" sz="1800" kern="1200" dirty="0"/>
            <a:t> </a:t>
          </a:r>
          <a:r>
            <a:rPr lang="en-US" altLang="zh-CN" sz="1800" kern="1200" dirty="0"/>
            <a:t>Data</a:t>
          </a:r>
          <a:endParaRPr lang="en-US" sz="1800" kern="1200" dirty="0"/>
        </a:p>
      </dsp:txBody>
      <dsp:txXfrm>
        <a:off x="132706" y="28827"/>
        <a:ext cx="1578355" cy="532760"/>
      </dsp:txXfrm>
    </dsp:sp>
    <dsp:sp modelId="{C59E9276-36BA-DC4E-9199-4D0982ADDCF9}">
      <dsp:nvSpPr>
        <dsp:cNvPr id="0" name=""/>
        <dsp:cNvSpPr/>
      </dsp:nvSpPr>
      <dsp:spPr>
        <a:xfrm>
          <a:off x="1918021" y="113821"/>
          <a:ext cx="3846805" cy="1225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FE3DB7-0D05-46C4-8929-C006B1539464}">
      <dsp:nvSpPr>
        <dsp:cNvPr id="0" name=""/>
        <dsp:cNvSpPr/>
      </dsp:nvSpPr>
      <dsp:spPr>
        <a:xfrm rot="5400000">
          <a:off x="2519375" y="1748888"/>
          <a:ext cx="584592" cy="688638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FE03992-4828-A74D-85E2-FD2C16306CBE}">
      <dsp:nvSpPr>
        <dsp:cNvPr id="0" name=""/>
        <dsp:cNvSpPr/>
      </dsp:nvSpPr>
      <dsp:spPr>
        <a:xfrm>
          <a:off x="1518945" y="1028274"/>
          <a:ext cx="1829915" cy="616386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Preprocessing</a:t>
          </a:r>
          <a:r>
            <a:rPr lang="zh-CN" altLang="en-US" sz="1800" kern="1200" dirty="0"/>
            <a:t> </a:t>
          </a:r>
          <a:r>
            <a:rPr lang="en-US" altLang="zh-CN" sz="1800" kern="1200" dirty="0"/>
            <a:t>Data</a:t>
          </a:r>
          <a:endParaRPr lang="en-US" sz="1800" kern="1200" dirty="0"/>
        </a:p>
      </dsp:txBody>
      <dsp:txXfrm>
        <a:off x="1549040" y="1058369"/>
        <a:ext cx="1769725" cy="556196"/>
      </dsp:txXfrm>
    </dsp:sp>
    <dsp:sp modelId="{593B5494-5423-4773-8318-5F5BE7FAB7B7}">
      <dsp:nvSpPr>
        <dsp:cNvPr id="0" name=""/>
        <dsp:cNvSpPr/>
      </dsp:nvSpPr>
      <dsp:spPr>
        <a:xfrm>
          <a:off x="4672092" y="0"/>
          <a:ext cx="1575391" cy="1225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0CC13F-57E8-4103-AD40-7117CE5E15F6}">
      <dsp:nvSpPr>
        <dsp:cNvPr id="0" name=""/>
        <dsp:cNvSpPr/>
      </dsp:nvSpPr>
      <dsp:spPr>
        <a:xfrm>
          <a:off x="3488958" y="1917431"/>
          <a:ext cx="1816160" cy="659082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Rolling Prediction</a:t>
          </a:r>
        </a:p>
      </dsp:txBody>
      <dsp:txXfrm>
        <a:off x="3521138" y="1949611"/>
        <a:ext cx="1751800" cy="5947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5BEF77-A9A3-49CF-BE7E-37FB4BAD6813}">
      <dsp:nvSpPr>
        <dsp:cNvPr id="0" name=""/>
        <dsp:cNvSpPr/>
      </dsp:nvSpPr>
      <dsp:spPr>
        <a:xfrm>
          <a:off x="1961241" y="1863"/>
          <a:ext cx="1307494" cy="849871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Convert</a:t>
          </a:r>
          <a:r>
            <a:rPr lang="zh-CN" altLang="en-US" sz="1500" kern="1200" dirty="0"/>
            <a:t> </a:t>
          </a:r>
          <a:r>
            <a:rPr lang="en-US" altLang="zh-CN" sz="1500" kern="1200" dirty="0"/>
            <a:t>to</a:t>
          </a:r>
          <a:r>
            <a:rPr lang="zh-CN" altLang="en-US" sz="1500" kern="1200" dirty="0"/>
            <a:t> </a:t>
          </a:r>
          <a:r>
            <a:rPr lang="en-US" altLang="zh-CN" sz="1500" kern="1200" dirty="0"/>
            <a:t>supervised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data</a:t>
          </a:r>
          <a:r>
            <a:rPr lang="zh-CN" altLang="en-US" sz="1500" kern="1200" dirty="0"/>
            <a:t> </a:t>
          </a:r>
          <a:r>
            <a:rPr lang="en-US" altLang="zh-CN" sz="1500" kern="1200" dirty="0"/>
            <a:t>frame</a:t>
          </a:r>
          <a:endParaRPr lang="en-US" sz="1500" kern="1200" dirty="0"/>
        </a:p>
      </dsp:txBody>
      <dsp:txXfrm>
        <a:off x="2002728" y="43350"/>
        <a:ext cx="1224520" cy="766897"/>
      </dsp:txXfrm>
    </dsp:sp>
    <dsp:sp modelId="{650E1AE2-AD43-4E1C-9283-04BE31D1F075}">
      <dsp:nvSpPr>
        <dsp:cNvPr id="0" name=""/>
        <dsp:cNvSpPr/>
      </dsp:nvSpPr>
      <dsp:spPr>
        <a:xfrm>
          <a:off x="613775" y="426799"/>
          <a:ext cx="4002427" cy="4002427"/>
        </a:xfrm>
        <a:custGeom>
          <a:avLst/>
          <a:gdLst/>
          <a:ahLst/>
          <a:cxnLst/>
          <a:rect l="0" t="0" r="0" b="0"/>
          <a:pathLst>
            <a:path>
              <a:moveTo>
                <a:pt x="2819216" y="174816"/>
              </a:moveTo>
              <a:arcTo wR="2001213" hR="2001213" stAng="17647593" swAng="923307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C32C26-6A5D-4DD1-9FD1-E869B55E2A4A}">
      <dsp:nvSpPr>
        <dsp:cNvPr id="0" name=""/>
        <dsp:cNvSpPr/>
      </dsp:nvSpPr>
      <dsp:spPr>
        <a:xfrm>
          <a:off x="3694343" y="1002470"/>
          <a:ext cx="1307494" cy="849871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Train</a:t>
          </a:r>
          <a:r>
            <a:rPr lang="zh-CN" altLang="en-US" sz="1500" kern="1200" dirty="0"/>
            <a:t> </a:t>
          </a:r>
          <a:r>
            <a:rPr lang="en-US" altLang="zh-CN" sz="1500" kern="1200" dirty="0"/>
            <a:t>LSTM</a:t>
          </a:r>
          <a:endParaRPr lang="en-US" sz="1500" kern="1200" dirty="0"/>
        </a:p>
      </dsp:txBody>
      <dsp:txXfrm>
        <a:off x="3735830" y="1043957"/>
        <a:ext cx="1224520" cy="766897"/>
      </dsp:txXfrm>
    </dsp:sp>
    <dsp:sp modelId="{4F6EC38E-DC51-44FB-9C19-8D871E8DE306}">
      <dsp:nvSpPr>
        <dsp:cNvPr id="0" name=""/>
        <dsp:cNvSpPr/>
      </dsp:nvSpPr>
      <dsp:spPr>
        <a:xfrm>
          <a:off x="613775" y="426799"/>
          <a:ext cx="4002427" cy="4002427"/>
        </a:xfrm>
        <a:custGeom>
          <a:avLst/>
          <a:gdLst/>
          <a:ahLst/>
          <a:cxnLst/>
          <a:rect l="0" t="0" r="0" b="0"/>
          <a:pathLst>
            <a:path>
              <a:moveTo>
                <a:pt x="3971260" y="1649398"/>
              </a:moveTo>
              <a:arcTo wR="2001213" hR="2001213" stAng="20992484" swAng="1215033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5146B7-94D6-49CA-B9E2-47D93D57CAAA}">
      <dsp:nvSpPr>
        <dsp:cNvPr id="0" name=""/>
        <dsp:cNvSpPr/>
      </dsp:nvSpPr>
      <dsp:spPr>
        <a:xfrm>
          <a:off x="3694343" y="3003684"/>
          <a:ext cx="1307494" cy="849871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500" kern="1200" dirty="0"/>
            <a:t>Find</a:t>
          </a:r>
          <a:r>
            <a:rPr lang="zh-CN" altLang="en-US" sz="1500" kern="1200" dirty="0"/>
            <a:t> </a:t>
          </a:r>
          <a:r>
            <a:rPr lang="en-US" altLang="zh-CN" sz="1500" kern="1200" dirty="0"/>
            <a:t>the</a:t>
          </a:r>
          <a:r>
            <a:rPr lang="zh-CN" altLang="en-US" sz="1500" kern="1200" dirty="0"/>
            <a:t> </a:t>
          </a:r>
          <a:r>
            <a:rPr lang="en-US" altLang="zh-CN" sz="1500" kern="1200" dirty="0"/>
            <a:t>best</a:t>
          </a:r>
          <a:r>
            <a:rPr lang="zh-CN" altLang="en-US" sz="1500" kern="1200" dirty="0"/>
            <a:t> </a:t>
          </a:r>
          <a:r>
            <a:rPr lang="en-US" altLang="zh-CN" sz="1500" kern="1200" dirty="0"/>
            <a:t>parameters</a:t>
          </a:r>
          <a:r>
            <a:rPr lang="zh-CN" altLang="en-US" sz="1500" kern="1200" dirty="0"/>
            <a:t> </a:t>
          </a:r>
          <a:r>
            <a:rPr lang="en-US" altLang="zh-CN" sz="1500" kern="1200" dirty="0"/>
            <a:t>by</a:t>
          </a:r>
          <a:r>
            <a:rPr lang="zh-CN" altLang="en-US" sz="1500" kern="1200" dirty="0"/>
            <a:t> </a:t>
          </a:r>
          <a:r>
            <a:rPr lang="en-US" altLang="zh-CN" sz="1500" kern="1200" dirty="0"/>
            <a:t>validation</a:t>
          </a:r>
          <a:endParaRPr lang="en-US" sz="1500" kern="1200" dirty="0"/>
        </a:p>
      </dsp:txBody>
      <dsp:txXfrm>
        <a:off x="3735830" y="3045171"/>
        <a:ext cx="1224520" cy="766897"/>
      </dsp:txXfrm>
    </dsp:sp>
    <dsp:sp modelId="{542A8A52-7744-4581-AF1A-F8167623C82A}">
      <dsp:nvSpPr>
        <dsp:cNvPr id="0" name=""/>
        <dsp:cNvSpPr/>
      </dsp:nvSpPr>
      <dsp:spPr>
        <a:xfrm>
          <a:off x="613775" y="426799"/>
          <a:ext cx="4002427" cy="4002427"/>
        </a:xfrm>
        <a:custGeom>
          <a:avLst/>
          <a:gdLst/>
          <a:ahLst/>
          <a:cxnLst/>
          <a:rect l="0" t="0" r="0" b="0"/>
          <a:pathLst>
            <a:path>
              <a:moveTo>
                <a:pt x="3283217" y="3537873"/>
              </a:moveTo>
              <a:arcTo wR="2001213" hR="2001213" stAng="3009748" swAng="862964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4D2970-9219-4445-99B4-337E67AA472E}">
      <dsp:nvSpPr>
        <dsp:cNvPr id="0" name=""/>
        <dsp:cNvSpPr/>
      </dsp:nvSpPr>
      <dsp:spPr>
        <a:xfrm>
          <a:off x="1907026" y="4004291"/>
          <a:ext cx="1415925" cy="849871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kern="1200" dirty="0"/>
            <a:t>Predict</a:t>
          </a:r>
          <a:r>
            <a:rPr lang="zh-CN" altLang="en-US" sz="1600" kern="1200" dirty="0"/>
            <a:t> </a:t>
          </a:r>
          <a:r>
            <a:rPr lang="en-US" altLang="zh-CN" sz="1600" kern="1200" dirty="0"/>
            <a:t>next</a:t>
          </a:r>
          <a:r>
            <a:rPr lang="zh-CN" altLang="en-US" sz="1600" kern="1200" dirty="0"/>
            <a:t> </a:t>
          </a:r>
          <a:r>
            <a:rPr lang="en-US" altLang="zh-CN" sz="1600" kern="1200" dirty="0"/>
            <a:t>month’s</a:t>
          </a:r>
          <a:r>
            <a:rPr lang="zh-CN" altLang="en-US" sz="1600" kern="1200" dirty="0"/>
            <a:t> </a:t>
          </a:r>
          <a:r>
            <a:rPr lang="en-US" altLang="zh-CN" sz="1600" kern="1200" dirty="0"/>
            <a:t>performance</a:t>
          </a:r>
          <a:endParaRPr lang="en-US" sz="1600" kern="1200" dirty="0"/>
        </a:p>
      </dsp:txBody>
      <dsp:txXfrm>
        <a:off x="1948513" y="4045778"/>
        <a:ext cx="1332951" cy="766897"/>
      </dsp:txXfrm>
    </dsp:sp>
    <dsp:sp modelId="{16CDCFE0-2BEF-425E-915D-B30DCB6EA374}">
      <dsp:nvSpPr>
        <dsp:cNvPr id="0" name=""/>
        <dsp:cNvSpPr/>
      </dsp:nvSpPr>
      <dsp:spPr>
        <a:xfrm>
          <a:off x="613775" y="426799"/>
          <a:ext cx="4002427" cy="4002427"/>
        </a:xfrm>
        <a:custGeom>
          <a:avLst/>
          <a:gdLst/>
          <a:ahLst/>
          <a:cxnLst/>
          <a:rect l="0" t="0" r="0" b="0"/>
          <a:pathLst>
            <a:path>
              <a:moveTo>
                <a:pt x="1141094" y="3808159"/>
              </a:moveTo>
              <a:arcTo wR="2001213" hR="2001213" stAng="6927288" swAng="862964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2EB03B-346C-443C-8B1D-919D636EEE88}">
      <dsp:nvSpPr>
        <dsp:cNvPr id="0" name=""/>
        <dsp:cNvSpPr/>
      </dsp:nvSpPr>
      <dsp:spPr>
        <a:xfrm>
          <a:off x="228139" y="3003684"/>
          <a:ext cx="1307494" cy="849871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Record</a:t>
          </a:r>
          <a:r>
            <a:rPr lang="zh-CN" altLang="en-US" sz="1800" kern="1200" dirty="0"/>
            <a:t> </a:t>
          </a:r>
          <a:r>
            <a:rPr lang="en-US" altLang="zh-CN" sz="1800" kern="1200" dirty="0"/>
            <a:t>prediction</a:t>
          </a:r>
          <a:endParaRPr lang="en-US" sz="1800" kern="1200" dirty="0"/>
        </a:p>
      </dsp:txBody>
      <dsp:txXfrm>
        <a:off x="269626" y="3045171"/>
        <a:ext cx="1224520" cy="766897"/>
      </dsp:txXfrm>
    </dsp:sp>
    <dsp:sp modelId="{375BDBC1-7845-4F1A-B707-E3DF6925369E}">
      <dsp:nvSpPr>
        <dsp:cNvPr id="0" name=""/>
        <dsp:cNvSpPr/>
      </dsp:nvSpPr>
      <dsp:spPr>
        <a:xfrm>
          <a:off x="613775" y="426799"/>
          <a:ext cx="4002427" cy="4002427"/>
        </a:xfrm>
        <a:custGeom>
          <a:avLst/>
          <a:gdLst/>
          <a:ahLst/>
          <a:cxnLst/>
          <a:rect l="0" t="0" r="0" b="0"/>
          <a:pathLst>
            <a:path>
              <a:moveTo>
                <a:pt x="31167" y="2353029"/>
              </a:moveTo>
              <a:arcTo wR="2001213" hR="2001213" stAng="10192484" swAng="1215033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419A6C-2347-4E7A-9B1B-97F5474DF097}">
      <dsp:nvSpPr>
        <dsp:cNvPr id="0" name=""/>
        <dsp:cNvSpPr/>
      </dsp:nvSpPr>
      <dsp:spPr>
        <a:xfrm>
          <a:off x="228139" y="1002470"/>
          <a:ext cx="1307494" cy="849871"/>
        </a:xfrm>
        <a:prstGeom prst="roundRect">
          <a:avLst/>
        </a:prstGeom>
        <a:solidFill>
          <a:schemeClr val="tx2">
            <a:lumMod val="60000"/>
            <a:lumOff val="4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Get</a:t>
          </a:r>
          <a:r>
            <a:rPr lang="zh-CN" altLang="en-US" sz="1800" kern="1200" dirty="0"/>
            <a:t> </a:t>
          </a:r>
          <a:r>
            <a:rPr lang="en-US" altLang="zh-CN" sz="1800" kern="1200" dirty="0"/>
            <a:t>block</a:t>
          </a:r>
          <a:r>
            <a:rPr lang="zh-CN" altLang="en-US" sz="1800" kern="1200" dirty="0"/>
            <a:t> </a:t>
          </a:r>
          <a:r>
            <a:rPr lang="en-US" altLang="zh-CN" sz="1800" kern="1200" dirty="0"/>
            <a:t>of</a:t>
          </a:r>
          <a:r>
            <a:rPr lang="zh-CN" altLang="en-US" sz="1800" kern="1200" dirty="0"/>
            <a:t> </a:t>
          </a:r>
          <a:r>
            <a:rPr lang="en-US" altLang="zh-CN" sz="1800" kern="1200" dirty="0"/>
            <a:t>data</a:t>
          </a:r>
          <a:endParaRPr lang="en-US" sz="1800" kern="1200" dirty="0"/>
        </a:p>
      </dsp:txBody>
      <dsp:txXfrm>
        <a:off x="269626" y="1043957"/>
        <a:ext cx="1224520" cy="766897"/>
      </dsp:txXfrm>
    </dsp:sp>
    <dsp:sp modelId="{D0AB9CD0-285D-4793-9CC3-780D49BDAA86}">
      <dsp:nvSpPr>
        <dsp:cNvPr id="0" name=""/>
        <dsp:cNvSpPr/>
      </dsp:nvSpPr>
      <dsp:spPr>
        <a:xfrm>
          <a:off x="613775" y="426799"/>
          <a:ext cx="4002427" cy="4002427"/>
        </a:xfrm>
        <a:custGeom>
          <a:avLst/>
          <a:gdLst/>
          <a:ahLst/>
          <a:cxnLst/>
          <a:rect l="0" t="0" r="0" b="0"/>
          <a:pathLst>
            <a:path>
              <a:moveTo>
                <a:pt x="727880" y="457361"/>
              </a:moveTo>
              <a:arcTo wR="2001213" hR="2001213" stAng="13829099" swAng="923307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E2094-6A03-4E95-8572-654945558E92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CB672F-C697-42D4-BC00-B17AA1BD19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08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54063" indent="-28892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588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24013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87563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44763" indent="-231775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3001963" indent="-231775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59163" indent="-231775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916363" indent="-231775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C978E29-A68F-4D3A-904E-82D415A491E5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5383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CB672F-C697-42D4-BC00-B17AA1BD19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866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charset="-128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D587FA0-487B-A546-9EC2-1C8AE5301AB3}" type="slidenum">
              <a:rPr lang="en-US" altLang="en-US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9501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charset="-128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D587FA0-487B-A546-9EC2-1C8AE5301AB3}" type="slidenum">
              <a:rPr lang="en-US" altLang="en-US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3716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charset="-128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D587FA0-487B-A546-9EC2-1C8AE5301AB3}" type="slidenum">
              <a:rPr lang="en-US" altLang="en-US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241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46DD400-41B8-3E46-B022-5BB0C6450580}" type="slidenum">
              <a:rPr lang="en-US" altLang="en-US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48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charset="-128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46DD400-41B8-3E46-B022-5BB0C6450580}" type="slidenum">
              <a:rPr lang="en-US" altLang="en-US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2953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charset="-128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46DD400-41B8-3E46-B022-5BB0C6450580}" type="slidenum">
              <a:rPr lang="en-US" altLang="en-US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44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charset="-128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46DD400-41B8-3E46-B022-5BB0C6450580}" type="slidenum">
              <a:rPr lang="en-US" altLang="en-US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9716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46DD400-41B8-3E46-B022-5BB0C6450580}" type="slidenum">
              <a:rPr lang="en-US" altLang="en-US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5138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charset="-128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46DD400-41B8-3E46-B022-5BB0C6450580}" type="slidenum">
              <a:rPr lang="en-US" altLang="en-US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44855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04FD9CA8-F66C-C949-953E-4FA0A983ABCE}" type="slidenum">
              <a:rPr lang="en-US" altLang="en-US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312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charset="-128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04FD9CA8-F66C-C949-953E-4FA0A983ABCE}" type="slidenum">
              <a:rPr lang="en-US" altLang="en-US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04675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ＭＳ Ｐゴシック" charset="-128"/>
            </a:endParaRP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04FD9CA8-F66C-C949-953E-4FA0A983ABCE}" type="slidenum">
              <a:rPr lang="en-US" altLang="en-US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1066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0"/>
          </p:nvPr>
        </p:nvSpPr>
        <p:spPr>
          <a:xfrm>
            <a:off x="-12192" y="0"/>
            <a:ext cx="12204192" cy="6858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1"/>
          </p:nvPr>
        </p:nvSpPr>
        <p:spPr>
          <a:xfrm>
            <a:off x="303670" y="2043258"/>
            <a:ext cx="4849681" cy="2415052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>
              <a:spcBef>
                <a:spcPts val="0"/>
              </a:spcBef>
              <a:defRPr sz="4000" b="1" i="0">
                <a:solidFill>
                  <a:schemeClr val="bg1"/>
                </a:solidFill>
                <a:latin typeface="Arial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02684" y="4958531"/>
            <a:ext cx="2377545" cy="482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spcBef>
                <a:spcPts val="0"/>
              </a:spcBef>
              <a:defRPr sz="1333" baseline="0">
                <a:solidFill>
                  <a:srgbClr val="FFFFFF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51153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0"/>
            <a:ext cx="12204700" cy="6877051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1087101" y="389468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endParaRPr lang="en-US" sz="2400"/>
          </a:p>
        </p:txBody>
      </p:sp>
      <p:pic>
        <p:nvPicPr>
          <p:cNvPr id="6" name="Picture 1" descr="nyu_whit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617" y="313267"/>
            <a:ext cx="89746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 Placeholder 2"/>
          <p:cNvSpPr>
            <a:spLocks noGrp="1"/>
          </p:cNvSpPr>
          <p:nvPr>
            <p:ph idx="11"/>
          </p:nvPr>
        </p:nvSpPr>
        <p:spPr>
          <a:xfrm>
            <a:off x="0" y="0"/>
            <a:ext cx="5974080" cy="687543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ctr">
              <a:defRPr sz="4000" b="1">
                <a:solidFill>
                  <a:srgbClr val="FFFFFF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6663024" y="2111809"/>
            <a:ext cx="4983792" cy="4174691"/>
          </a:xfrm>
          <a:prstGeom prst="rect">
            <a:avLst/>
          </a:prstGeom>
        </p:spPr>
        <p:txBody>
          <a:bodyPr vert="horz" lIns="0" tIns="0" rIns="0" bIns="0"/>
          <a:lstStyle>
            <a:lvl1pPr marL="0">
              <a:spcBef>
                <a:spcPts val="0"/>
              </a:spcBef>
              <a:defRPr sz="4000" b="1" i="0">
                <a:solidFill>
                  <a:srgbClr val="FFFFFF"/>
                </a:solidFill>
                <a:latin typeface="Arial"/>
                <a:cs typeface="Arial"/>
              </a:defRPr>
            </a:lvl1pPr>
            <a:lvl2pPr marL="0" indent="0">
              <a:spcBef>
                <a:spcPts val="0"/>
              </a:spcBef>
              <a:buNone/>
              <a:defRPr baseline="0"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9619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669057" y="2111809"/>
            <a:ext cx="5081255" cy="4174691"/>
          </a:xfrm>
          <a:prstGeom prst="rect">
            <a:avLst/>
          </a:prstGeom>
        </p:spPr>
        <p:txBody>
          <a:bodyPr vert="horz" lIns="0" tIns="0" rIns="0" bIns="0"/>
          <a:lstStyle>
            <a:lvl1pPr marL="0">
              <a:spcBef>
                <a:spcPts val="0"/>
              </a:spcBef>
              <a:defRPr sz="2667" b="1"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idx="11"/>
          </p:nvPr>
        </p:nvSpPr>
        <p:spPr>
          <a:xfrm>
            <a:off x="6230103" y="950131"/>
            <a:ext cx="5974080" cy="5907869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ctr">
              <a:defRPr sz="40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235616" y="305319"/>
            <a:ext cx="3654321" cy="353484"/>
          </a:xfrm>
          <a:prstGeom prst="rect">
            <a:avLst/>
          </a:prstGeom>
        </p:spPr>
        <p:txBody>
          <a:bodyPr vert="horz" lIns="0" tIns="0" rIns="0" bIns="0"/>
          <a:lstStyle>
            <a:lvl1pPr marL="0" algn="r">
              <a:spcBef>
                <a:spcPts val="0"/>
              </a:spcBef>
              <a:defRPr sz="1867" b="1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fld id="{77E3CA9C-4BE4-44BF-A199-45E6A0087C37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C37598E7-897A-4C08-9B2A-D0B163672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262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669057" y="2111809"/>
            <a:ext cx="11087404" cy="4174691"/>
          </a:xfrm>
          <a:prstGeom prst="rect">
            <a:avLst/>
          </a:prstGeom>
        </p:spPr>
        <p:txBody>
          <a:bodyPr vert="horz" lIns="0" tIns="0" rIns="0" bIns="0"/>
          <a:lstStyle>
            <a:lvl1pPr marL="0">
              <a:spcBef>
                <a:spcPts val="0"/>
              </a:spcBef>
              <a:defRPr sz="2667" b="1"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8235616" y="305319"/>
            <a:ext cx="3654321" cy="353484"/>
          </a:xfrm>
          <a:prstGeom prst="rect">
            <a:avLst/>
          </a:prstGeom>
        </p:spPr>
        <p:txBody>
          <a:bodyPr vert="horz" lIns="0" tIns="0" rIns="0" bIns="0"/>
          <a:lstStyle>
            <a:lvl1pPr marL="0" algn="r">
              <a:spcBef>
                <a:spcPts val="0"/>
              </a:spcBef>
              <a:defRPr sz="1867" b="1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fld id="{77E3CA9C-4BE4-44BF-A199-45E6A0087C37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C37598E7-897A-4C08-9B2A-D0B163672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219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nyu_white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917" y="313267"/>
            <a:ext cx="89746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" y="0"/>
            <a:ext cx="12204700" cy="950384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pic>
        <p:nvPicPr>
          <p:cNvPr id="1028" name="Picture 1" descr="nyu_white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917" y="313267"/>
            <a:ext cx="89746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600">
                <a:solidFill>
                  <a:srgbClr val="898989"/>
                </a:solidFill>
                <a:latin typeface="Arial" pitchFamily="34" charset="0"/>
              </a:defRPr>
            </a:lvl1pPr>
          </a:lstStyle>
          <a:p>
            <a:fld id="{77E3CA9C-4BE4-44BF-A199-45E6A0087C37}" type="datetimeFigureOut">
              <a:rPr lang="en-US" smtClean="0"/>
              <a:t>5/14/2018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618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 smtClean="0">
                <a:solidFill>
                  <a:srgbClr val="898989"/>
                </a:solidFill>
              </a:defRPr>
            </a:lvl1pPr>
          </a:lstStyle>
          <a:p>
            <a:fld id="{C37598E7-897A-4C08-9B2A-D0B163672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43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838179" indent="-228594" algn="l" defTabSz="6095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447764" indent="-228594" algn="l" defTabSz="609585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Courier New" panose="02070309020205020404" pitchFamily="49" charset="0"/>
        <a:buChar char="o"/>
        <a:defRPr sz="186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819330" indent="-380990" algn="l" defTabSz="609585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186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Placeholder 9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933" y="0"/>
            <a:ext cx="12204700" cy="68685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-16934" y="1388533"/>
            <a:ext cx="5607051" cy="4267200"/>
          </a:xfrm>
          <a:prstGeom prst="rect">
            <a:avLst/>
          </a:prstGeom>
          <a:solidFill>
            <a:srgbClr val="57068C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defRPr/>
            </a:pPr>
            <a:endParaRPr lang="en-US" sz="2400">
              <a:solidFill>
                <a:schemeClr val="lt1"/>
              </a:solidFill>
            </a:endParaRPr>
          </a:p>
        </p:txBody>
      </p:sp>
      <p:sp>
        <p:nvSpPr>
          <p:cNvPr id="7172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80129" y="2006600"/>
            <a:ext cx="5590116" cy="24151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sz="32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Quantitative Trading Strategies</a:t>
            </a:r>
            <a:r>
              <a:rPr lang="zh-CN" altLang="en-US" sz="32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endParaRPr lang="en-US" altLang="zh-CN" sz="32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</a:pPr>
            <a:r>
              <a:rPr lang="en-US" altLang="zh-CN" sz="32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Based</a:t>
            </a:r>
            <a:r>
              <a:rPr lang="zh-CN" altLang="en-US" sz="32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zh-CN" sz="32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on</a:t>
            </a:r>
            <a:r>
              <a:rPr lang="zh-CN" altLang="en-US" sz="32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zh-CN" sz="32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LSTM Neural Network</a:t>
            </a:r>
            <a:endParaRPr lang="en-US" altLang="en-US" sz="3200" dirty="0"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sp>
        <p:nvSpPr>
          <p:cNvPr id="7173" name="Text Placeholder 3"/>
          <p:cNvSpPr>
            <a:spLocks noGrp="1"/>
          </p:cNvSpPr>
          <p:nvPr>
            <p:ph type="body" sz="quarter" idx="13"/>
          </p:nvPr>
        </p:nvSpPr>
        <p:spPr bwMode="auto">
          <a:xfrm>
            <a:off x="302684" y="4580467"/>
            <a:ext cx="3446356" cy="889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marL="0" indent="0">
              <a:spcBef>
                <a:spcPct val="0"/>
              </a:spcBef>
            </a:pPr>
            <a:r>
              <a:rPr lang="en-US" altLang="zh-CN" sz="1400" b="1" dirty="0" err="1"/>
              <a:t>Xutao</a:t>
            </a:r>
            <a:r>
              <a:rPr lang="zh-CN" altLang="en-US" sz="1400" b="1" dirty="0"/>
              <a:t> </a:t>
            </a:r>
            <a:r>
              <a:rPr lang="en-US" altLang="zh-CN" sz="1400" b="1" dirty="0"/>
              <a:t>Chen		|</a:t>
            </a:r>
            <a:r>
              <a:rPr lang="zh-CN" altLang="en-US" sz="1400" b="1" dirty="0"/>
              <a:t> </a:t>
            </a:r>
            <a:r>
              <a:rPr lang="is-IS" altLang="zh-CN" sz="1400" b="1" dirty="0"/>
              <a:t>N13549812</a:t>
            </a:r>
            <a:endParaRPr lang="en-US" altLang="zh-CN" sz="1400" b="1" dirty="0"/>
          </a:p>
          <a:p>
            <a:pPr marL="0" indent="0">
              <a:spcBef>
                <a:spcPct val="0"/>
              </a:spcBef>
            </a:pPr>
            <a:r>
              <a:rPr lang="en-US" altLang="zh-CN" sz="1400" b="1" dirty="0"/>
              <a:t>Tiancheng</a:t>
            </a:r>
            <a:r>
              <a:rPr lang="zh-CN" altLang="en-US" sz="1400" b="1" dirty="0"/>
              <a:t> </a:t>
            </a:r>
            <a:r>
              <a:rPr lang="en-US" altLang="zh-CN" sz="1400" b="1" dirty="0"/>
              <a:t>Hou	|</a:t>
            </a:r>
            <a:r>
              <a:rPr lang="zh-CN" altLang="en-US" sz="1400" b="1" dirty="0"/>
              <a:t> </a:t>
            </a:r>
            <a:r>
              <a:rPr lang="en-US" sz="1400" b="1" dirty="0"/>
              <a:t>N14508044 </a:t>
            </a:r>
            <a:endParaRPr lang="en-US" altLang="zh-CN" sz="1400" b="1" dirty="0"/>
          </a:p>
          <a:p>
            <a:pPr marL="0" indent="0">
              <a:spcBef>
                <a:spcPct val="0"/>
              </a:spcBef>
            </a:pPr>
            <a:r>
              <a:rPr lang="en-US" altLang="zh-CN" sz="1400" b="1" dirty="0" err="1"/>
              <a:t>Mengrui</a:t>
            </a:r>
            <a:r>
              <a:rPr lang="zh-CN" altLang="en-US" sz="1400" b="1" dirty="0"/>
              <a:t> </a:t>
            </a:r>
            <a:r>
              <a:rPr lang="en-US" altLang="zh-CN" sz="1400" b="1" dirty="0"/>
              <a:t>Zhang	|</a:t>
            </a:r>
            <a:r>
              <a:rPr lang="zh-CN" altLang="en-US" sz="1400" b="1" dirty="0"/>
              <a:t> </a:t>
            </a:r>
            <a:r>
              <a:rPr lang="en-US" sz="1400" b="1" dirty="0"/>
              <a:t>N17880728 </a:t>
            </a:r>
            <a:endParaRPr lang="en-US" altLang="en-US" sz="1400" b="1" dirty="0"/>
          </a:p>
        </p:txBody>
      </p:sp>
      <p:pic>
        <p:nvPicPr>
          <p:cNvPr id="7174" name="Picture 11" descr="nyu_white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685" y="1701800"/>
            <a:ext cx="89958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2726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Placeholder 1"/>
          <p:cNvSpPr>
            <a:spLocks noGrp="1"/>
          </p:cNvSpPr>
          <p:nvPr>
            <p:ph type="body" sz="quarter" idx="12"/>
          </p:nvPr>
        </p:nvSpPr>
        <p:spPr bwMode="auto">
          <a:xfrm>
            <a:off x="255631" y="1943694"/>
            <a:ext cx="11087100" cy="193047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lvl="1">
              <a:spcBef>
                <a:spcPct val="0"/>
              </a:spcBef>
              <a:defRPr/>
            </a:pPr>
            <a:r>
              <a:rPr lang="en-US" altLang="zh-CN" sz="3200" dirty="0">
                <a:latin typeface="Calibri" pitchFamily="34" charset="0"/>
                <a:ea typeface="ＭＳ Ｐゴシック" pitchFamily="34" charset="-128"/>
              </a:rPr>
              <a:t>Introduction to Long Short Term Memory (LSTM) Model</a:t>
            </a:r>
          </a:p>
          <a:p>
            <a:pPr lvl="1">
              <a:spcBef>
                <a:spcPct val="0"/>
              </a:spcBef>
              <a:defRPr/>
            </a:pPr>
            <a:endParaRPr lang="en-US" altLang="zh-CN" sz="3200" dirty="0">
              <a:latin typeface="Calibri" pitchFamily="34" charset="0"/>
              <a:ea typeface="ＭＳ Ｐゴシック" pitchFamily="34" charset="-128"/>
            </a:endParaRPr>
          </a:p>
          <a:p>
            <a:pPr lvl="1">
              <a:spcBef>
                <a:spcPct val="0"/>
              </a:spcBef>
              <a:defRPr/>
            </a:pPr>
            <a:r>
              <a:rPr lang="en-US" altLang="zh-CN" sz="3200" dirty="0">
                <a:latin typeface="Calibri" pitchFamily="34" charset="0"/>
                <a:ea typeface="ＭＳ Ｐゴシック" pitchFamily="34" charset="-128"/>
              </a:rPr>
              <a:t>LSTM</a:t>
            </a:r>
            <a:r>
              <a:rPr lang="zh-CN" altLang="en-US" sz="3200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altLang="zh-CN" sz="3200" dirty="0">
                <a:latin typeface="Calibri" pitchFamily="34" charset="0"/>
                <a:ea typeface="ＭＳ Ｐゴシック" pitchFamily="34" charset="-128"/>
              </a:rPr>
              <a:t>Implementation</a:t>
            </a:r>
          </a:p>
          <a:p>
            <a:pPr lvl="1">
              <a:spcBef>
                <a:spcPct val="0"/>
              </a:spcBef>
              <a:defRPr/>
            </a:pPr>
            <a:endParaRPr lang="en-US" altLang="zh-CN" sz="3200" dirty="0">
              <a:latin typeface="Calibri" pitchFamily="34" charset="0"/>
              <a:ea typeface="ＭＳ Ｐゴシック" pitchFamily="34" charset="-128"/>
            </a:endParaRPr>
          </a:p>
          <a:p>
            <a:pPr lvl="1">
              <a:spcBef>
                <a:spcPct val="0"/>
              </a:spcBef>
              <a:defRPr/>
            </a:pPr>
            <a:r>
              <a:rPr lang="en-US" altLang="zh-CN" sz="3200" dirty="0">
                <a:latin typeface="Calibri" pitchFamily="34" charset="0"/>
                <a:ea typeface="ＭＳ Ｐゴシック" pitchFamily="34" charset="-128"/>
              </a:rPr>
              <a:t>Back Testing Result</a:t>
            </a:r>
          </a:p>
          <a:p>
            <a:pPr lvl="1">
              <a:spcBef>
                <a:spcPct val="0"/>
              </a:spcBef>
              <a:defRPr/>
            </a:pPr>
            <a:endParaRPr lang="en-US" altLang="zh-CN" sz="3200" dirty="0">
              <a:latin typeface="Calibri" pitchFamily="34" charset="0"/>
              <a:ea typeface="ＭＳ Ｐゴシック" pitchFamily="34" charset="-128"/>
            </a:endParaRPr>
          </a:p>
          <a:p>
            <a:pPr lvl="1">
              <a:spcBef>
                <a:spcPct val="0"/>
              </a:spcBef>
              <a:defRPr/>
            </a:pPr>
            <a:r>
              <a:rPr lang="en-US" altLang="zh-CN" sz="3200" dirty="0">
                <a:latin typeface="Calibri" pitchFamily="34" charset="0"/>
                <a:ea typeface="ＭＳ Ｐゴシック" pitchFamily="34" charset="-128"/>
              </a:rPr>
              <a:t>Conclusion</a:t>
            </a:r>
            <a:r>
              <a:rPr lang="zh-CN" altLang="en-US" sz="3200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altLang="zh-CN" sz="3200" dirty="0">
                <a:latin typeface="Calibri" pitchFamily="34" charset="0"/>
                <a:ea typeface="ＭＳ Ｐゴシック" pitchFamily="34" charset="-128"/>
              </a:rPr>
              <a:t>&amp;</a:t>
            </a:r>
            <a:r>
              <a:rPr lang="zh-CN" altLang="en-US" sz="3200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altLang="zh-CN" sz="3200" dirty="0">
                <a:latin typeface="Calibri" pitchFamily="34" charset="0"/>
                <a:ea typeface="ＭＳ Ｐゴシック" pitchFamily="34" charset="-128"/>
              </a:rPr>
              <a:t>Extension</a:t>
            </a:r>
            <a:endParaRPr lang="en-US" altLang="en-US" sz="3200" dirty="0">
              <a:latin typeface="Calibri" pitchFamily="34" charset="0"/>
              <a:ea typeface="ＭＳ Ｐゴシック" pitchFamily="34" charset="-128"/>
            </a:endParaRPr>
          </a:p>
          <a:p>
            <a:pPr lvl="1">
              <a:spcBef>
                <a:spcPct val="0"/>
              </a:spcBef>
              <a:buFont typeface="Arial" charset="0"/>
              <a:buChar char="•"/>
              <a:defRPr/>
            </a:pPr>
            <a:endParaRPr lang="en-US" altLang="en-US" sz="1800" dirty="0">
              <a:latin typeface="Calibri" pitchFamily="34" charset="0"/>
              <a:ea typeface="ＭＳ Ｐゴシック" pitchFamily="34" charset="-128"/>
            </a:endParaRPr>
          </a:p>
          <a:p>
            <a:pPr lvl="1">
              <a:spcBef>
                <a:spcPct val="0"/>
              </a:spcBef>
              <a:buFont typeface="Arial" charset="0"/>
              <a:buChar char="•"/>
              <a:defRPr/>
            </a:pPr>
            <a:endParaRPr lang="en-US" altLang="en-US" sz="1800" dirty="0">
              <a:latin typeface="Calibri" pitchFamily="34" charset="0"/>
              <a:ea typeface="ＭＳ Ｐゴシック" pitchFamily="34" charset="-128"/>
            </a:endParaRPr>
          </a:p>
          <a:p>
            <a:pPr marL="609585" lvl="1" indent="0">
              <a:spcBef>
                <a:spcPct val="0"/>
              </a:spcBef>
              <a:buNone/>
              <a:defRPr/>
            </a:pPr>
            <a:endParaRPr lang="en-US" altLang="en-US" sz="1800" dirty="0">
              <a:latin typeface="Calibri" pitchFamily="34" charset="0"/>
              <a:ea typeface="ＭＳ Ｐゴシック" pitchFamily="34" charset="-128"/>
            </a:endParaRPr>
          </a:p>
        </p:txBody>
      </p:sp>
      <p:sp>
        <p:nvSpPr>
          <p:cNvPr id="9219" name="Text Placeholder 2"/>
          <p:cNvSpPr>
            <a:spLocks noGrp="1"/>
          </p:cNvSpPr>
          <p:nvPr>
            <p:ph type="body" sz="quarter" idx="14"/>
          </p:nvPr>
        </p:nvSpPr>
        <p:spPr bwMode="auto">
          <a:xfrm>
            <a:off x="8235951" y="304801"/>
            <a:ext cx="3653367" cy="3534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Table of Contents</a:t>
            </a:r>
          </a:p>
        </p:txBody>
      </p:sp>
      <p:sp>
        <p:nvSpPr>
          <p:cNvPr id="9220" name="Slide Number Placeholder 2"/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35271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3962301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57188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181470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0339485-9481-4833-9415-96CEEF0AA695}" type="slidenum">
              <a:rPr lang="en-US" altLang="en-US" smtClean="0">
                <a:solidFill>
                  <a:srgbClr val="898989"/>
                </a:solidFill>
              </a:rPr>
              <a:pPr/>
              <a:t>2</a:t>
            </a:fld>
            <a:endParaRPr lang="en-US" altLang="en-US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65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439803-D653-47E1-9536-AE62BE3656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8029" y="4567287"/>
            <a:ext cx="11038787" cy="1719213"/>
          </a:xfrm>
        </p:spPr>
        <p:txBody>
          <a:bodyPr/>
          <a:lstStyle/>
          <a:p>
            <a:r>
              <a:rPr lang="en-US" altLang="zh-CN" dirty="0">
                <a:latin typeface="Calibri" pitchFamily="34" charset="0"/>
                <a:ea typeface="ＭＳ Ｐゴシック" pitchFamily="34" charset="-128"/>
              </a:rPr>
              <a:t>Introduction to </a:t>
            </a:r>
          </a:p>
          <a:p>
            <a:r>
              <a:rPr lang="en-US" altLang="zh-CN" dirty="0">
                <a:latin typeface="Calibri" pitchFamily="34" charset="0"/>
                <a:ea typeface="ＭＳ Ｐゴシック" pitchFamily="34" charset="-128"/>
              </a:rPr>
              <a:t>Long Short Term Memory (LSTM) Model</a:t>
            </a:r>
          </a:p>
        </p:txBody>
      </p:sp>
    </p:spTree>
    <p:extLst>
      <p:ext uri="{BB962C8B-B14F-4D97-AF65-F5344CB8AC3E}">
        <p14:creationId xmlns:p14="http://schemas.microsoft.com/office/powerpoint/2010/main" val="3539647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E75FD0-C059-4854-84F5-7C512803C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1094" y="1197410"/>
            <a:ext cx="11087404" cy="485276"/>
          </a:xfrm>
        </p:spPr>
        <p:txBody>
          <a:bodyPr/>
          <a:lstStyle/>
          <a:p>
            <a:r>
              <a:rPr lang="en-US" dirty="0"/>
              <a:t>Feedforward Network vs. Recurrent Neural Network (RNN)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57C47-BD32-4D09-B8FC-2DB2F11E83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zh-CN" dirty="0">
                <a:latin typeface="Calibri" pitchFamily="34" charset="0"/>
                <a:ea typeface="ＭＳ Ｐゴシック" pitchFamily="34" charset="-128"/>
              </a:rPr>
              <a:t>Introduction to</a:t>
            </a:r>
            <a:r>
              <a:rPr lang="zh-CN" altLang="en-US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altLang="zh-CN" dirty="0">
                <a:latin typeface="Calibri" pitchFamily="34" charset="0"/>
                <a:ea typeface="ＭＳ Ｐゴシック" pitchFamily="34" charset="-128"/>
              </a:rPr>
              <a:t>LSTM Model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B14DFB-DCC4-4FE4-B1D1-848F86664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36" y="2044134"/>
            <a:ext cx="3478617" cy="3701503"/>
          </a:xfrm>
          <a:prstGeom prst="rect">
            <a:avLst/>
          </a:prstGeom>
        </p:spPr>
      </p:pic>
      <p:pic>
        <p:nvPicPr>
          <p:cNvPr id="7" name="Picture 6" descr="A close up of a logo&#10;&#10;Description generated with high confidence">
            <a:extLst>
              <a:ext uri="{FF2B5EF4-FFF2-40B4-BE49-F238E27FC236}">
                <a16:creationId xmlns:a16="http://schemas.microsoft.com/office/drawing/2014/main" id="{C29BA56E-DAE2-4CA7-A569-A690DCEF7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149" y="2133234"/>
            <a:ext cx="3341376" cy="34270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C6FFC9-CB6B-4557-9950-7B8FD2439EB0}"/>
              </a:ext>
            </a:extLst>
          </p:cNvPr>
          <p:cNvSpPr txBox="1"/>
          <p:nvPr/>
        </p:nvSpPr>
        <p:spPr>
          <a:xfrm>
            <a:off x="647908" y="5934670"/>
            <a:ext cx="3707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One-to-One mapping:</a:t>
            </a:r>
          </a:p>
          <a:p>
            <a:r>
              <a:rPr lang="en-US" b="1" dirty="0"/>
              <a:t>Input =&gt; 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F67A34-A93C-4825-B369-4855D3DB806F}"/>
              </a:ext>
            </a:extLst>
          </p:cNvPr>
          <p:cNvSpPr txBox="1"/>
          <p:nvPr/>
        </p:nvSpPr>
        <p:spPr>
          <a:xfrm>
            <a:off x="4506013" y="3105834"/>
            <a:ext cx="2998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Time series:</a:t>
            </a:r>
          </a:p>
          <a:p>
            <a:r>
              <a:rPr lang="en-US" b="1" dirty="0"/>
              <a:t>Historical data are critical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5746F19-E0DF-4EB8-8188-5D3261EAF885}"/>
              </a:ext>
            </a:extLst>
          </p:cNvPr>
          <p:cNvSpPr/>
          <p:nvPr/>
        </p:nvSpPr>
        <p:spPr>
          <a:xfrm>
            <a:off x="4506012" y="3846760"/>
            <a:ext cx="3242821" cy="306371"/>
          </a:xfrm>
          <a:prstGeom prst="rightArrow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788B07-F76D-4533-BD5D-92C3ACF0CA7D}"/>
              </a:ext>
            </a:extLst>
          </p:cNvPr>
          <p:cNvSpPr txBox="1"/>
          <p:nvPr/>
        </p:nvSpPr>
        <p:spPr>
          <a:xfrm>
            <a:off x="8290874" y="5858759"/>
            <a:ext cx="2771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Traditional Method:</a:t>
            </a:r>
          </a:p>
          <a:p>
            <a:r>
              <a:rPr lang="en-US" b="1" dirty="0"/>
              <a:t>Sliding Window</a:t>
            </a:r>
          </a:p>
        </p:txBody>
      </p:sp>
    </p:spTree>
    <p:extLst>
      <p:ext uri="{BB962C8B-B14F-4D97-AF65-F5344CB8AC3E}">
        <p14:creationId xmlns:p14="http://schemas.microsoft.com/office/powerpoint/2010/main" val="960243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E75FD0-C059-4854-84F5-7C512803C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1094" y="1197410"/>
            <a:ext cx="11087404" cy="485276"/>
          </a:xfrm>
        </p:spPr>
        <p:txBody>
          <a:bodyPr/>
          <a:lstStyle/>
          <a:p>
            <a:r>
              <a:rPr lang="en-US" dirty="0"/>
              <a:t>Feedforward Network vs. Recurrent Neural Network (RNN)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57C47-BD32-4D09-B8FC-2DB2F11E83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zh-CN" dirty="0">
                <a:latin typeface="Calibri" pitchFamily="34" charset="0"/>
                <a:ea typeface="ＭＳ Ｐゴシック" pitchFamily="34" charset="-128"/>
              </a:rPr>
              <a:t>Introduction to</a:t>
            </a:r>
            <a:r>
              <a:rPr lang="zh-CN" altLang="en-US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altLang="zh-CN" dirty="0">
                <a:latin typeface="Calibri" pitchFamily="34" charset="0"/>
                <a:ea typeface="ＭＳ Ｐゴシック" pitchFamily="34" charset="-128"/>
              </a:rPr>
              <a:t>LSTM Model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E3606D-F4B6-436A-8A6F-5E20A5EA9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625" y="2525459"/>
            <a:ext cx="4485722" cy="2564135"/>
          </a:xfrm>
          <a:prstGeom prst="rect">
            <a:avLst/>
          </a:prstGeom>
        </p:spPr>
      </p:pic>
      <p:pic>
        <p:nvPicPr>
          <p:cNvPr id="7" name="Picture 6" descr="A close up of a logo&#10;&#10;Description generated with high confidence">
            <a:extLst>
              <a:ext uri="{FF2B5EF4-FFF2-40B4-BE49-F238E27FC236}">
                <a16:creationId xmlns:a16="http://schemas.microsoft.com/office/drawing/2014/main" id="{C29BA56E-DAE2-4CA7-A569-A690DCEF7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94" y="2215535"/>
            <a:ext cx="2804720" cy="28766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54DB4B-80D5-4E3B-B4AA-C86A9B15EAB0}"/>
              </a:ext>
            </a:extLst>
          </p:cNvPr>
          <p:cNvSpPr txBox="1"/>
          <p:nvPr/>
        </p:nvSpPr>
        <p:spPr>
          <a:xfrm>
            <a:off x="471094" y="5575870"/>
            <a:ext cx="4256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Sliding Window Drawback:</a:t>
            </a:r>
          </a:p>
          <a:p>
            <a:r>
              <a:rPr lang="en-US" dirty="0"/>
              <a:t>No explicit notion of timeframe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253457B-AB71-43AE-8C37-ECD6F112560A}"/>
              </a:ext>
            </a:extLst>
          </p:cNvPr>
          <p:cNvSpPr/>
          <p:nvPr/>
        </p:nvSpPr>
        <p:spPr>
          <a:xfrm>
            <a:off x="4111657" y="3433164"/>
            <a:ext cx="2971801" cy="306371"/>
          </a:xfrm>
          <a:prstGeom prst="rightArrow">
            <a:avLst/>
          </a:prstGeom>
          <a:solidFill>
            <a:schemeClr val="accent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4612E-F28A-4969-BD96-EFDECB5605DF}"/>
              </a:ext>
            </a:extLst>
          </p:cNvPr>
          <p:cNvSpPr txBox="1"/>
          <p:nvPr/>
        </p:nvSpPr>
        <p:spPr>
          <a:xfrm>
            <a:off x="4042325" y="2705990"/>
            <a:ext cx="32239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Solution:</a:t>
            </a:r>
          </a:p>
          <a:p>
            <a:r>
              <a:rPr lang="en-US" b="1" dirty="0"/>
              <a:t>Recurrent Neural Network</a:t>
            </a:r>
          </a:p>
          <a:p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FCF652-AB41-4EF2-8B69-B130F5E5F8F0}"/>
              </a:ext>
            </a:extLst>
          </p:cNvPr>
          <p:cNvSpPr txBox="1"/>
          <p:nvPr/>
        </p:nvSpPr>
        <p:spPr>
          <a:xfrm>
            <a:off x="6272213" y="5575870"/>
            <a:ext cx="5860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Remember context through recurrent connection</a:t>
            </a:r>
          </a:p>
          <a:p>
            <a:pPr marL="342900" indent="-342900">
              <a:buAutoNum type="arabicPeriod"/>
            </a:pPr>
            <a:r>
              <a:rPr lang="en-US" dirty="0"/>
              <a:t>Recognize time: Explicit order of the sample</a:t>
            </a:r>
          </a:p>
          <a:p>
            <a:pPr marL="342900" indent="-342900">
              <a:buAutoNum type="arabicPeriod"/>
            </a:pPr>
            <a:r>
              <a:rPr lang="en-US" dirty="0"/>
              <a:t>Can carry long term memory</a:t>
            </a:r>
          </a:p>
        </p:txBody>
      </p:sp>
    </p:spTree>
    <p:extLst>
      <p:ext uri="{BB962C8B-B14F-4D97-AF65-F5344CB8AC3E}">
        <p14:creationId xmlns:p14="http://schemas.microsoft.com/office/powerpoint/2010/main" val="3796203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Placeholder 2"/>
          <p:cNvSpPr>
            <a:spLocks noGrp="1"/>
          </p:cNvSpPr>
          <p:nvPr>
            <p:ph type="body" sz="quarter" idx="14"/>
          </p:nvPr>
        </p:nvSpPr>
        <p:spPr bwMode="auto">
          <a:xfrm>
            <a:off x="8235951" y="304801"/>
            <a:ext cx="3653367" cy="3534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latin typeface="Calibri" pitchFamily="34" charset="0"/>
                <a:ea typeface="ＭＳ Ｐゴシック" pitchFamily="34" charset="-128"/>
              </a:rPr>
              <a:t>Introduction to</a:t>
            </a:r>
            <a:r>
              <a:rPr lang="zh-CN" altLang="en-US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altLang="zh-CN" dirty="0">
                <a:latin typeface="Calibri" pitchFamily="34" charset="0"/>
                <a:ea typeface="ＭＳ Ｐゴシック" pitchFamily="34" charset="-128"/>
              </a:rPr>
              <a:t>LSTM Model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335271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962301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457188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5181470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A65CE998-93B3-B942-878C-C3CF16A0504C}" type="slidenum">
              <a:rPr lang="en-US" altLang="en-US">
                <a:solidFill>
                  <a:srgbClr val="898989"/>
                </a:solidFill>
              </a:rPr>
              <a:pPr/>
              <a:t>6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175657"/>
            <a:ext cx="844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Unfolding Recurrent Neural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1563" y="2051901"/>
            <a:ext cx="8553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altLang="zh-CN" b="1" dirty="0"/>
              <a:t>Features</a:t>
            </a:r>
            <a:r>
              <a:rPr lang="zh-CN" altLang="en-US" b="1" dirty="0"/>
              <a:t> </a:t>
            </a:r>
            <a:r>
              <a:rPr lang="en-US" altLang="zh-CN" b="1" dirty="0"/>
              <a:t>of</a:t>
            </a:r>
            <a:r>
              <a:rPr lang="zh-CN" altLang="en-US" b="1" dirty="0"/>
              <a:t> </a:t>
            </a:r>
            <a:r>
              <a:rPr lang="en-US" altLang="zh-CN" b="1" dirty="0"/>
              <a:t>each</a:t>
            </a:r>
            <a:r>
              <a:rPr lang="zh-CN" altLang="en-US" b="1" dirty="0"/>
              <a:t> </a:t>
            </a:r>
            <a:r>
              <a:rPr lang="en-US" altLang="zh-CN" b="1" dirty="0"/>
              <a:t>time</a:t>
            </a:r>
            <a:r>
              <a:rPr lang="zh-CN" altLang="en-US" b="1" dirty="0"/>
              <a:t> </a:t>
            </a:r>
            <a:r>
              <a:rPr lang="en-US" altLang="zh-CN" b="1" dirty="0"/>
              <a:t>step</a:t>
            </a:r>
            <a:r>
              <a:rPr lang="zh-CN" altLang="en-US" b="1" dirty="0"/>
              <a:t> </a:t>
            </a:r>
            <a:r>
              <a:rPr lang="en-US" altLang="zh-CN" b="1" dirty="0"/>
              <a:t>are</a:t>
            </a:r>
            <a:r>
              <a:rPr lang="zh-CN" altLang="en-US" b="1" dirty="0"/>
              <a:t> </a:t>
            </a:r>
            <a:r>
              <a:rPr lang="en-US" altLang="zh-CN" b="1" dirty="0"/>
              <a:t>passed</a:t>
            </a:r>
            <a:r>
              <a:rPr lang="zh-CN" altLang="en-US" b="1" dirty="0"/>
              <a:t> </a:t>
            </a:r>
            <a:r>
              <a:rPr lang="en-US" altLang="zh-CN" b="1" dirty="0"/>
              <a:t>into</a:t>
            </a:r>
            <a:r>
              <a:rPr lang="zh-CN" altLang="en-US" b="1" dirty="0"/>
              <a:t> </a:t>
            </a:r>
            <a:r>
              <a:rPr lang="en-US" altLang="zh-CN" b="1" dirty="0"/>
              <a:t>the</a:t>
            </a:r>
            <a:r>
              <a:rPr lang="zh-CN" altLang="en-US" b="1" dirty="0"/>
              <a:t> </a:t>
            </a:r>
            <a:r>
              <a:rPr lang="en-US" altLang="zh-CN" b="1" dirty="0"/>
              <a:t>block</a:t>
            </a:r>
            <a:r>
              <a:rPr lang="zh-CN" altLang="en-US" b="1" dirty="0"/>
              <a:t> </a:t>
            </a:r>
            <a:r>
              <a:rPr lang="en-US" altLang="zh-CN" b="1" dirty="0"/>
              <a:t>in</a:t>
            </a:r>
            <a:r>
              <a:rPr lang="zh-CN" altLang="en-US" b="1" dirty="0"/>
              <a:t> </a:t>
            </a:r>
            <a:r>
              <a:rPr lang="en-US" altLang="zh-CN" b="1" dirty="0"/>
              <a:t>sequence</a:t>
            </a:r>
          </a:p>
          <a:p>
            <a:pPr marL="285750" indent="-285750">
              <a:buFont typeface="Arial" charset="0"/>
              <a:buChar char="•"/>
            </a:pPr>
            <a:r>
              <a:rPr lang="en-US" altLang="zh-CN" b="1" dirty="0"/>
              <a:t>The</a:t>
            </a:r>
            <a:r>
              <a:rPr lang="zh-CN" altLang="en-US" b="1" dirty="0"/>
              <a:t> </a:t>
            </a:r>
            <a:r>
              <a:rPr lang="en-US" altLang="zh-CN" b="1" dirty="0"/>
              <a:t>current</a:t>
            </a:r>
            <a:r>
              <a:rPr lang="zh-CN" altLang="en-US" b="1" dirty="0"/>
              <a:t> </a:t>
            </a:r>
            <a:r>
              <a:rPr lang="en-US" altLang="zh-CN" b="1" dirty="0"/>
              <a:t>state</a:t>
            </a:r>
            <a:r>
              <a:rPr lang="zh-CN" altLang="en-US" b="1" dirty="0"/>
              <a:t> </a:t>
            </a:r>
            <a:r>
              <a:rPr lang="en-US" altLang="zh-CN" b="1" dirty="0"/>
              <a:t>of</a:t>
            </a:r>
            <a:r>
              <a:rPr lang="zh-CN" altLang="en-US" b="1" dirty="0"/>
              <a:t> </a:t>
            </a:r>
            <a:r>
              <a:rPr lang="en-US" altLang="zh-CN" b="1" dirty="0"/>
              <a:t>the</a:t>
            </a:r>
            <a:r>
              <a:rPr lang="zh-CN" altLang="en-US" b="1" dirty="0"/>
              <a:t> </a:t>
            </a:r>
            <a:r>
              <a:rPr lang="en-US" altLang="zh-CN" b="1" dirty="0"/>
              <a:t>block</a:t>
            </a:r>
            <a:r>
              <a:rPr lang="zh-CN" altLang="en-US" b="1" dirty="0"/>
              <a:t> </a:t>
            </a:r>
            <a:r>
              <a:rPr lang="en-US" altLang="zh-CN" b="1" dirty="0"/>
              <a:t>is</a:t>
            </a:r>
            <a:r>
              <a:rPr lang="zh-CN" altLang="en-US" b="1" dirty="0"/>
              <a:t> </a:t>
            </a:r>
            <a:r>
              <a:rPr lang="en-US" altLang="zh-CN" b="1" dirty="0"/>
              <a:t>affected</a:t>
            </a:r>
            <a:r>
              <a:rPr lang="zh-CN" altLang="en-US" b="1" dirty="0"/>
              <a:t> </a:t>
            </a:r>
            <a:r>
              <a:rPr lang="en-US" altLang="zh-CN" b="1" dirty="0"/>
              <a:t>by</a:t>
            </a:r>
            <a:r>
              <a:rPr lang="zh-CN" altLang="en-US" b="1" dirty="0"/>
              <a:t> </a:t>
            </a:r>
            <a:r>
              <a:rPr lang="en-US" altLang="zh-CN" b="1" dirty="0"/>
              <a:t>previous</a:t>
            </a:r>
            <a:r>
              <a:rPr lang="zh-CN" altLang="en-US" b="1" dirty="0"/>
              <a:t> </a:t>
            </a:r>
            <a:r>
              <a:rPr lang="en-US" altLang="zh-CN" b="1" dirty="0"/>
              <a:t>states</a:t>
            </a:r>
            <a:endParaRPr 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310" y="3429000"/>
            <a:ext cx="6180290" cy="1637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057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Placeholder 2"/>
          <p:cNvSpPr>
            <a:spLocks noGrp="1"/>
          </p:cNvSpPr>
          <p:nvPr>
            <p:ph type="body" sz="quarter" idx="14"/>
          </p:nvPr>
        </p:nvSpPr>
        <p:spPr bwMode="auto">
          <a:xfrm>
            <a:off x="8235951" y="304801"/>
            <a:ext cx="3653367" cy="3534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latin typeface="Calibri" pitchFamily="34" charset="0"/>
                <a:ea typeface="ＭＳ Ｐゴシック" pitchFamily="34" charset="-128"/>
              </a:rPr>
              <a:t>Introduction to</a:t>
            </a:r>
            <a:r>
              <a:rPr lang="zh-CN" altLang="en-US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altLang="zh-CN" dirty="0">
                <a:latin typeface="Calibri" pitchFamily="34" charset="0"/>
                <a:ea typeface="ＭＳ Ｐゴシック" pitchFamily="34" charset="-128"/>
              </a:rPr>
              <a:t>LSTM Model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335271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962301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457188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5181470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A65CE998-93B3-B942-878C-C3CF16A0504C}" type="slidenum">
              <a:rPr lang="en-US" altLang="en-US">
                <a:solidFill>
                  <a:srgbClr val="898989"/>
                </a:solidFill>
              </a:rPr>
              <a:pPr/>
              <a:t>7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175657"/>
            <a:ext cx="844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Training Method: Backpropagation through time (BPTT) </a:t>
            </a:r>
            <a:endParaRPr 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457423" y="1932996"/>
            <a:ext cx="8553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Algorithm: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Unfold RNN to a multi-layer feedforward network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Do backpropagation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Apply the sum of all gradients resulting from the same parameter</a:t>
            </a:r>
          </a:p>
        </p:txBody>
      </p:sp>
      <p:pic>
        <p:nvPicPr>
          <p:cNvPr id="8" name="Picture 2" descr="BPTT unfolds a recurrent neural network through time.">
            <a:extLst>
              <a:ext uri="{FF2B5EF4-FFF2-40B4-BE49-F238E27FC236}">
                <a16:creationId xmlns:a16="http://schemas.microsoft.com/office/drawing/2014/main" id="{751EA7F8-EE1B-4308-A2D5-E08A81533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004" y="3575116"/>
            <a:ext cx="6644612" cy="2192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1A2A76-50D5-4BC2-BC6F-D5804E5F7B09}"/>
              </a:ext>
            </a:extLst>
          </p:cNvPr>
          <p:cNvSpPr txBox="1"/>
          <p:nvPr/>
        </p:nvSpPr>
        <p:spPr>
          <a:xfrm>
            <a:off x="2845822" y="5961526"/>
            <a:ext cx="5470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f1, f2, f3 have the same weight parameters as f</a:t>
            </a:r>
          </a:p>
        </p:txBody>
      </p:sp>
    </p:spTree>
    <p:extLst>
      <p:ext uri="{BB962C8B-B14F-4D97-AF65-F5344CB8AC3E}">
        <p14:creationId xmlns:p14="http://schemas.microsoft.com/office/powerpoint/2010/main" val="2987101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Placeholder 2"/>
          <p:cNvSpPr>
            <a:spLocks noGrp="1"/>
          </p:cNvSpPr>
          <p:nvPr>
            <p:ph type="body" sz="quarter" idx="14"/>
          </p:nvPr>
        </p:nvSpPr>
        <p:spPr bwMode="auto">
          <a:xfrm>
            <a:off x="8235951" y="304801"/>
            <a:ext cx="3653367" cy="3534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latin typeface="Calibri" pitchFamily="34" charset="0"/>
                <a:ea typeface="ＭＳ Ｐゴシック" pitchFamily="34" charset="-128"/>
              </a:rPr>
              <a:t>Introduction to</a:t>
            </a:r>
            <a:r>
              <a:rPr lang="zh-CN" altLang="en-US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altLang="zh-CN" dirty="0">
                <a:latin typeface="Calibri" pitchFamily="34" charset="0"/>
                <a:ea typeface="ＭＳ Ｐゴシック" pitchFamily="34" charset="-128"/>
              </a:rPr>
              <a:t>LSTM Model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335271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962301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457188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5181470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A65CE998-93B3-B942-878C-C3CF16A0504C}" type="slidenum">
              <a:rPr lang="en-US" altLang="en-US">
                <a:solidFill>
                  <a:srgbClr val="898989"/>
                </a:solidFill>
              </a:rPr>
              <a:pPr/>
              <a:t>8</a:t>
            </a:fld>
            <a:endParaRPr lang="en-US" altLang="en-US" dirty="0">
              <a:solidFill>
                <a:srgbClr val="898989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175657"/>
            <a:ext cx="8446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BPTT Difficulty: Vanishing Gradient</a:t>
            </a:r>
            <a:endParaRPr lang="en-US" sz="2400" b="1" dirty="0"/>
          </a:p>
        </p:txBody>
      </p:sp>
      <p:pic>
        <p:nvPicPr>
          <p:cNvPr id="8" name="Picture 2" descr="BPTT unfolds a recurrent neural network through time.">
            <a:extLst>
              <a:ext uri="{FF2B5EF4-FFF2-40B4-BE49-F238E27FC236}">
                <a16:creationId xmlns:a16="http://schemas.microsoft.com/office/drawing/2014/main" id="{751EA7F8-EE1B-4308-A2D5-E08A81533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349" y="2565269"/>
            <a:ext cx="5234730" cy="1727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Alt text">
            <a:extLst>
              <a:ext uri="{FF2B5EF4-FFF2-40B4-BE49-F238E27FC236}">
                <a16:creationId xmlns:a16="http://schemas.microsoft.com/office/drawing/2014/main" id="{F34671E7-E8CE-4AA5-B335-AAFAAD3D2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41147"/>
            <a:ext cx="4637988" cy="3587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1B781E-8AB1-427F-AD04-B2A150875B71}"/>
              </a:ext>
            </a:extLst>
          </p:cNvPr>
          <p:cNvSpPr txBox="1"/>
          <p:nvPr/>
        </p:nvSpPr>
        <p:spPr>
          <a:xfrm>
            <a:off x="697584" y="6032691"/>
            <a:ext cx="4746396" cy="366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flatten: Gradient approach zero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7E7E13-AFA1-4E9C-AF4D-1FAD9B7A8544}"/>
              </a:ext>
            </a:extLst>
          </p:cNvPr>
          <p:cNvSpPr txBox="1"/>
          <p:nvPr/>
        </p:nvSpPr>
        <p:spPr>
          <a:xfrm>
            <a:off x="5714215" y="4738454"/>
            <a:ext cx="60205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Unfolding RNN </a:t>
            </a:r>
          </a:p>
          <a:p>
            <a:r>
              <a:rPr lang="en-US" dirty="0"/>
              <a:t>=&gt; Too many layers</a:t>
            </a:r>
          </a:p>
          <a:p>
            <a:r>
              <a:rPr lang="en-US" dirty="0"/>
              <a:t>=&gt; Memory go through sigmoid function many times</a:t>
            </a:r>
          </a:p>
          <a:p>
            <a:r>
              <a:rPr lang="en-US" dirty="0"/>
              <a:t>=&gt; Vanishing Gradient</a:t>
            </a:r>
          </a:p>
          <a:p>
            <a:r>
              <a:rPr lang="en-US" dirty="0"/>
              <a:t>=&gt; Unable to update f1 weights effectively</a:t>
            </a:r>
          </a:p>
        </p:txBody>
      </p:sp>
    </p:spTree>
    <p:extLst>
      <p:ext uri="{BB962C8B-B14F-4D97-AF65-F5344CB8AC3E}">
        <p14:creationId xmlns:p14="http://schemas.microsoft.com/office/powerpoint/2010/main" val="1762992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Placeholder 1"/>
          <p:cNvSpPr>
            <a:spLocks noGrp="1"/>
          </p:cNvSpPr>
          <p:nvPr>
            <p:ph type="body" sz="quarter" idx="12"/>
          </p:nvPr>
        </p:nvSpPr>
        <p:spPr bwMode="auto">
          <a:xfrm>
            <a:off x="668867" y="1299633"/>
            <a:ext cx="11087100" cy="67464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Calibri" pitchFamily="34" charset="0"/>
                <a:ea typeface="ＭＳ Ｐゴシック" pitchFamily="34" charset="-128"/>
              </a:rPr>
              <a:t>Long-Short-Term</a:t>
            </a:r>
            <a:r>
              <a:rPr lang="zh-CN" altLang="en-US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altLang="zh-CN" dirty="0">
                <a:latin typeface="Calibri" pitchFamily="34" charset="0"/>
                <a:ea typeface="ＭＳ Ｐゴシック" pitchFamily="34" charset="-128"/>
              </a:rPr>
              <a:t>Memory (LSTM) Model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sz="quarter" idx="14"/>
          </p:nvPr>
        </p:nvSpPr>
        <p:spPr bwMode="auto">
          <a:xfrm>
            <a:off x="8235951" y="304801"/>
            <a:ext cx="3653367" cy="3534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latin typeface="Calibri" pitchFamily="34" charset="0"/>
                <a:ea typeface="ＭＳ Ｐゴシック" pitchFamily="34" charset="-128"/>
              </a:rPr>
              <a:t>Introduction to</a:t>
            </a:r>
            <a:r>
              <a:rPr lang="zh-CN" altLang="en-US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altLang="zh-CN" dirty="0">
                <a:latin typeface="Calibri" pitchFamily="34" charset="0"/>
                <a:ea typeface="ＭＳ Ｐゴシック" pitchFamily="34" charset="-128"/>
              </a:rPr>
              <a:t>LSTM Model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9220" name="Slide Number Placeholder 2"/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335271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3962301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457188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5181470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0339485-9481-4833-9415-96CEEF0AA695}" type="slidenum">
              <a:rPr lang="en-US" altLang="en-US" smtClean="0">
                <a:solidFill>
                  <a:srgbClr val="898989"/>
                </a:solidFill>
              </a:rPr>
              <a:pPr/>
              <a:t>9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73" r="2030"/>
          <a:stretch/>
        </p:blipFill>
        <p:spPr>
          <a:xfrm>
            <a:off x="421893" y="1974273"/>
            <a:ext cx="7416495" cy="45614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82846" y="2615621"/>
            <a:ext cx="38091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Key Structure</a:t>
            </a:r>
            <a:r>
              <a:rPr lang="zh-CN" altLang="en-US" b="1" dirty="0"/>
              <a:t> </a:t>
            </a:r>
            <a:r>
              <a:rPr lang="en-US" altLang="zh-CN" b="1" dirty="0"/>
              <a:t>of</a:t>
            </a:r>
            <a:r>
              <a:rPr lang="zh-CN" altLang="en-US" b="1" dirty="0"/>
              <a:t> </a:t>
            </a:r>
            <a:r>
              <a:rPr lang="en-US" altLang="zh-CN" b="1" dirty="0"/>
              <a:t>a LSTM</a:t>
            </a:r>
            <a:r>
              <a:rPr lang="zh-CN" altLang="en-US" b="1" dirty="0"/>
              <a:t> </a:t>
            </a:r>
            <a:r>
              <a:rPr lang="en-US" altLang="zh-CN" b="1" dirty="0"/>
              <a:t>Block</a:t>
            </a:r>
          </a:p>
          <a:p>
            <a:pPr marL="285750" indent="-285750">
              <a:buFont typeface="Arial" charset="0"/>
              <a:buChar char="•"/>
            </a:pPr>
            <a:r>
              <a:rPr lang="en-US" altLang="zh-CN" dirty="0"/>
              <a:t>Input</a:t>
            </a:r>
            <a:r>
              <a:rPr lang="zh-CN" altLang="en-US" dirty="0"/>
              <a:t> </a:t>
            </a:r>
            <a:r>
              <a:rPr lang="en-US" altLang="zh-CN" dirty="0"/>
              <a:t>gate</a:t>
            </a:r>
          </a:p>
          <a:p>
            <a:pPr marL="285750" indent="-285750">
              <a:buFont typeface="Arial" charset="0"/>
              <a:buChar char="•"/>
            </a:pPr>
            <a:r>
              <a:rPr lang="en-US" altLang="zh-CN" dirty="0"/>
              <a:t>Forget</a:t>
            </a:r>
            <a:r>
              <a:rPr lang="zh-CN" altLang="en-US" dirty="0"/>
              <a:t> </a:t>
            </a:r>
            <a:r>
              <a:rPr lang="en-US" altLang="zh-CN" dirty="0"/>
              <a:t>gate</a:t>
            </a:r>
          </a:p>
          <a:p>
            <a:pPr marL="285750" indent="-285750">
              <a:buFont typeface="Arial" charset="0"/>
              <a:buChar char="•"/>
            </a:pPr>
            <a:r>
              <a:rPr lang="en-US" altLang="zh-CN" dirty="0"/>
              <a:t>Output</a:t>
            </a:r>
            <a:r>
              <a:rPr lang="zh-CN" altLang="en-US" dirty="0"/>
              <a:t> </a:t>
            </a:r>
            <a:r>
              <a:rPr lang="en-US" altLang="zh-CN" dirty="0"/>
              <a:t>gate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8B141E-4DD7-4B2C-85CD-6FC07A0097C9}"/>
              </a:ext>
            </a:extLst>
          </p:cNvPr>
          <p:cNvSpPr txBox="1"/>
          <p:nvPr/>
        </p:nvSpPr>
        <p:spPr>
          <a:xfrm>
            <a:off x="8235951" y="5156022"/>
            <a:ext cx="34300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Avoid vanishing gradient:</a:t>
            </a:r>
          </a:p>
          <a:p>
            <a:r>
              <a:rPr lang="en-US" dirty="0"/>
              <a:t>Internalize recurrent connection</a:t>
            </a:r>
          </a:p>
          <a:p>
            <a:r>
              <a:rPr lang="en-US" dirty="0"/>
              <a:t>Use </a:t>
            </a:r>
            <a:r>
              <a:rPr lang="en-US" b="1" dirty="0"/>
              <a:t>plus</a:t>
            </a:r>
            <a:r>
              <a:rPr lang="en-US" dirty="0"/>
              <a:t> instead of </a:t>
            </a:r>
            <a:r>
              <a:rPr lang="en-US" b="1" dirty="0"/>
              <a:t>sigmoid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083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439803-D653-47E1-9536-AE62BE3656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8029" y="5198882"/>
            <a:ext cx="11038787" cy="1087618"/>
          </a:xfrm>
        </p:spPr>
        <p:txBody>
          <a:bodyPr/>
          <a:lstStyle/>
          <a:p>
            <a:r>
              <a:rPr lang="en-US" altLang="zh-CN" dirty="0">
                <a:latin typeface="Calibri" pitchFamily="34" charset="0"/>
                <a:ea typeface="ＭＳ Ｐゴシック" pitchFamily="34" charset="-128"/>
              </a:rPr>
              <a:t>LSTM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184638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552450" y="2052993"/>
            <a:ext cx="11087100" cy="4872567"/>
          </a:xfrm>
        </p:spPr>
        <p:txBody>
          <a:bodyPr/>
          <a:lstStyle/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</a:rPr>
              <a:t>Data Source: Yahoo Finance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</a:rPr>
              <a:t>Date range: 2008/01/02 – 2017/12/29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</a:rPr>
              <a:t>Daily high, low, close price data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en-US" altLang="zh-CN" sz="2400" b="0" dirty="0">
              <a:latin typeface="Calibri" pitchFamily="34" charset="0"/>
              <a:ea typeface="ＭＳ Ｐゴシック" pitchFamily="34" charset="-128"/>
              <a:cs typeface="+mn-cs"/>
            </a:endParaRP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  <a:cs typeface="+mn-cs"/>
              </a:rPr>
              <a:t>Total 54</a:t>
            </a:r>
            <a:r>
              <a:rPr lang="zh-CN" altLang="en-US" sz="2400" b="0" dirty="0">
                <a:latin typeface="Calibri" pitchFamily="34" charset="0"/>
                <a:ea typeface="ＭＳ Ｐゴシック" pitchFamily="34" charset="-128"/>
                <a:cs typeface="+mn-cs"/>
              </a:rPr>
              <a:t> </a:t>
            </a:r>
            <a:r>
              <a:rPr lang="en-US" altLang="zh-CN" sz="2400" b="0" dirty="0">
                <a:latin typeface="Calibri" pitchFamily="34" charset="0"/>
                <a:ea typeface="ＭＳ Ｐゴシック" pitchFamily="34" charset="-128"/>
                <a:cs typeface="+mn-cs"/>
              </a:rPr>
              <a:t>stocks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  <a:cs typeface="+mn-cs"/>
              </a:rPr>
              <a:t>From 9 main industries according to Yahoo Finance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  <a:cs typeface="+mn-cs"/>
              </a:rPr>
              <a:t>For each industry, choose 6 stocks with different market capitalization</a:t>
            </a:r>
          </a:p>
          <a:p>
            <a:pPr indent="0">
              <a:spcBef>
                <a:spcPct val="0"/>
              </a:spcBef>
              <a:defRPr/>
            </a:pPr>
            <a:endParaRPr lang="en-US" altLang="zh-CN" sz="2400" b="0" dirty="0">
              <a:latin typeface="Calibri" pitchFamily="34" charset="0"/>
              <a:ea typeface="ＭＳ Ｐゴシック" pitchFamily="34" charset="-128"/>
              <a:cs typeface="+mn-cs"/>
            </a:endParaRP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  <a:cs typeface="+mn-cs"/>
              </a:rPr>
              <a:t>Stock list: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1800" b="0" dirty="0">
                <a:latin typeface="Calibri" pitchFamily="34" charset="0"/>
                <a:ea typeface="ＭＳ Ｐゴシック" pitchFamily="34" charset="-128"/>
                <a:cs typeface="+mn-cs"/>
              </a:rPr>
              <a:t>AAPL,ABB,ADBE,AEP,AMGN,AMZN,BA,BBD,BP,BTI,C,CAT,CBCELG,CODI,COST,CRH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1800" b="0" dirty="0">
                <a:latin typeface="Calibri" pitchFamily="34" charset="0"/>
                <a:ea typeface="ＭＳ Ｐゴシック" pitchFamily="34" charset="-128"/>
                <a:cs typeface="+mn-cs"/>
              </a:rPr>
              <a:t>CVS,D,E,EIX,EOG,ETN,FDX,GOOGL,GSK, HMC,HON,HRG,IEP,INTC,JNJ,JPM,MDLZ,MS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1800" b="0" dirty="0">
                <a:latin typeface="Calibri" pitchFamily="34" charset="0"/>
                <a:ea typeface="ＭＳ Ｐゴシック" pitchFamily="34" charset="-128"/>
                <a:cs typeface="+mn-cs"/>
              </a:rPr>
              <a:t>MSFT,NEE,NFLX,NVDA,NVS,OKE,OXY,PICO,REX,RIO,SAP,SCHW,SU,TM,TSM,UN, WBA,WEC,WMT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en-US" altLang="zh-CN" sz="1800" b="0" dirty="0">
              <a:latin typeface="Calibri" pitchFamily="34" charset="0"/>
              <a:ea typeface="ＭＳ Ｐゴシック" pitchFamily="34" charset="-128"/>
              <a:cs typeface="+mn-cs"/>
            </a:endParaRPr>
          </a:p>
          <a:p>
            <a:pPr marL="114311" indent="-571500">
              <a:spcBef>
                <a:spcPct val="0"/>
              </a:spcBef>
              <a:buFont typeface="Arial" charset="0"/>
              <a:buChar char="•"/>
              <a:defRPr/>
            </a:pPr>
            <a:endParaRPr lang="en-US" sz="2400" b="0" dirty="0">
              <a:latin typeface="Calibri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15363" name="Text Placeholder 2"/>
          <p:cNvSpPr>
            <a:spLocks noGrp="1"/>
          </p:cNvSpPr>
          <p:nvPr>
            <p:ph type="body" sz="quarter" idx="14"/>
          </p:nvPr>
        </p:nvSpPr>
        <p:spPr bwMode="auto">
          <a:xfrm>
            <a:off x="8235951" y="304801"/>
            <a:ext cx="3653367" cy="3534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ea typeface="ＭＳ Ｐゴシック" charset="-128"/>
              </a:rPr>
              <a:t>LSTM</a:t>
            </a:r>
            <a:r>
              <a:rPr lang="zh-CN" altLang="en-US" dirty="0">
                <a:ea typeface="ＭＳ Ｐゴシック" charset="-128"/>
              </a:rPr>
              <a:t> </a:t>
            </a:r>
            <a:r>
              <a:rPr lang="en-US" altLang="zh-CN" dirty="0">
                <a:ea typeface="ＭＳ Ｐゴシック" charset="-128"/>
              </a:rPr>
              <a:t>Implementation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15365" name="Slide Number Placeholder 4"/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335271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962301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457188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5181470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8A7953E-15BA-164E-9D11-FB1FA54A36B3}" type="slidenum">
              <a:rPr lang="en-US" altLang="en-US">
                <a:solidFill>
                  <a:srgbClr val="898989"/>
                </a:solidFill>
              </a:rPr>
              <a:pPr/>
              <a:t>11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9317" y="1385207"/>
            <a:ext cx="5350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Data Selection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73930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0767" y="2137835"/>
            <a:ext cx="11087100" cy="4497678"/>
          </a:xfrm>
        </p:spPr>
        <p:txBody>
          <a:bodyPr/>
          <a:lstStyle/>
          <a:p>
            <a:pPr marL="114311" indent="-571500">
              <a:spcBef>
                <a:spcPct val="0"/>
              </a:spcBef>
              <a:buFont typeface="Arial" charset="0"/>
              <a:buChar char="•"/>
              <a:defRPr/>
            </a:pPr>
            <a:r>
              <a:rPr lang="en-US" altLang="zh-CN" sz="2400" dirty="0">
                <a:latin typeface="Calibri" pitchFamily="34" charset="0"/>
                <a:ea typeface="ＭＳ Ｐゴシック" pitchFamily="34" charset="-128"/>
                <a:cs typeface="+mn-cs"/>
              </a:rPr>
              <a:t>64 Features Total</a:t>
            </a:r>
          </a:p>
          <a:p>
            <a:pPr marL="114311" indent="-571500">
              <a:spcBef>
                <a:spcPct val="0"/>
              </a:spcBef>
              <a:buFont typeface="Arial" charset="0"/>
              <a:buChar char="•"/>
              <a:defRPr/>
            </a:pPr>
            <a:endParaRPr lang="en-US" altLang="zh-CN" sz="2400" dirty="0">
              <a:latin typeface="Calibri" pitchFamily="34" charset="0"/>
              <a:ea typeface="ＭＳ Ｐゴシック" pitchFamily="34" charset="-128"/>
              <a:cs typeface="+mn-cs"/>
            </a:endParaRPr>
          </a:p>
          <a:p>
            <a:pPr marL="114311" indent="-571500">
              <a:spcBef>
                <a:spcPct val="0"/>
              </a:spcBef>
              <a:buFont typeface="Arial" charset="0"/>
              <a:buChar char="•"/>
              <a:defRPr/>
            </a:pPr>
            <a:r>
              <a:rPr lang="en-US" altLang="zh-CN" sz="2400" dirty="0">
                <a:latin typeface="Calibri" pitchFamily="34" charset="0"/>
                <a:ea typeface="ＭＳ Ｐゴシック" pitchFamily="34" charset="-128"/>
                <a:cs typeface="+mn-cs"/>
              </a:rPr>
              <a:t>Daily returns of 54 stocks</a:t>
            </a:r>
          </a:p>
          <a:p>
            <a:pPr marL="114311" indent="-571500">
              <a:spcBef>
                <a:spcPct val="0"/>
              </a:spcBef>
              <a:buFont typeface="Arial" charset="0"/>
              <a:buChar char="•"/>
              <a:defRPr/>
            </a:pPr>
            <a:r>
              <a:rPr lang="en-US" altLang="zh-CN" sz="2400" dirty="0">
                <a:latin typeface="Calibri" pitchFamily="34" charset="0"/>
                <a:ea typeface="ＭＳ Ｐゴシック" pitchFamily="34" charset="-128"/>
                <a:cs typeface="+mn-cs"/>
              </a:rPr>
              <a:t>Ten Technical Indicators:</a:t>
            </a:r>
          </a:p>
          <a:p>
            <a:pPr marL="114311" indent="-571500">
              <a:spcBef>
                <a:spcPct val="0"/>
              </a:spcBef>
              <a:buFont typeface="Arial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  <a:cs typeface="+mn-cs"/>
              </a:rPr>
              <a:t>Median return</a:t>
            </a:r>
          </a:p>
          <a:p>
            <a:pPr marL="114311" indent="-571500">
              <a:spcBef>
                <a:spcPct val="0"/>
              </a:spcBef>
              <a:buFont typeface="Arial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  <a:cs typeface="+mn-cs"/>
              </a:rPr>
              <a:t>20 days Moving Standard Deviation</a:t>
            </a:r>
          </a:p>
          <a:p>
            <a:pPr marL="114311" indent="-571500">
              <a:spcBef>
                <a:spcPct val="0"/>
              </a:spcBef>
              <a:buFont typeface="Arial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  <a:cs typeface="+mn-cs"/>
              </a:rPr>
              <a:t>Stochastic Oscillator D</a:t>
            </a:r>
          </a:p>
          <a:p>
            <a:pPr marL="114311" indent="-571500">
              <a:spcBef>
                <a:spcPct val="0"/>
              </a:spcBef>
              <a:buFont typeface="Arial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  <a:cs typeface="+mn-cs"/>
              </a:rPr>
              <a:t>MACD: </a:t>
            </a:r>
            <a:r>
              <a:rPr lang="en-US" altLang="zh-CN" sz="2400" b="0" dirty="0" err="1">
                <a:latin typeface="Calibri" pitchFamily="34" charset="0"/>
                <a:ea typeface="ＭＳ Ｐゴシック" pitchFamily="34" charset="-128"/>
                <a:cs typeface="+mn-cs"/>
              </a:rPr>
              <a:t>Macd</a:t>
            </a:r>
            <a:r>
              <a:rPr lang="en-US" altLang="zh-CN" sz="2400" b="0" dirty="0">
                <a:latin typeface="Calibri" pitchFamily="34" charset="0"/>
                <a:ea typeface="ＭＳ Ｐゴシック" pitchFamily="34" charset="-128"/>
                <a:cs typeface="+mn-cs"/>
              </a:rPr>
              <a:t>, sign and diff</a:t>
            </a:r>
          </a:p>
          <a:p>
            <a:pPr marL="114311" indent="-571500">
              <a:spcBef>
                <a:spcPct val="0"/>
              </a:spcBef>
              <a:buFont typeface="Arial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  <a:cs typeface="+mn-cs"/>
              </a:rPr>
              <a:t>RSI</a:t>
            </a:r>
          </a:p>
          <a:p>
            <a:pPr marL="114311" indent="-571500">
              <a:spcBef>
                <a:spcPct val="0"/>
              </a:spcBef>
              <a:buFont typeface="Arial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  <a:cs typeface="+mn-cs"/>
              </a:rPr>
              <a:t>CCI</a:t>
            </a:r>
          </a:p>
          <a:p>
            <a:pPr marL="114311" indent="-571500">
              <a:spcBef>
                <a:spcPct val="0"/>
              </a:spcBef>
              <a:buFont typeface="Arial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  <a:cs typeface="+mn-cs"/>
              </a:rPr>
              <a:t>ADX</a:t>
            </a:r>
          </a:p>
          <a:p>
            <a:pPr marL="114311" indent="-571500">
              <a:spcBef>
                <a:spcPct val="0"/>
              </a:spcBef>
              <a:buFont typeface="Arial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  <a:cs typeface="+mn-cs"/>
              </a:rPr>
              <a:t>TRIX</a:t>
            </a:r>
            <a:endParaRPr lang="en-US" altLang="zh-CN" sz="1600" b="0" dirty="0">
              <a:latin typeface="Calibri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15363" name="Text Placeholder 2"/>
          <p:cNvSpPr>
            <a:spLocks noGrp="1"/>
          </p:cNvSpPr>
          <p:nvPr>
            <p:ph type="body" sz="quarter" idx="14"/>
          </p:nvPr>
        </p:nvSpPr>
        <p:spPr bwMode="auto">
          <a:xfrm>
            <a:off x="8235951" y="304801"/>
            <a:ext cx="3653367" cy="3534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ea typeface="ＭＳ Ｐゴシック" charset="-128"/>
              </a:rPr>
              <a:t>LSTM</a:t>
            </a:r>
            <a:r>
              <a:rPr lang="zh-CN" altLang="en-US" dirty="0">
                <a:ea typeface="ＭＳ Ｐゴシック" charset="-128"/>
              </a:rPr>
              <a:t> </a:t>
            </a:r>
            <a:r>
              <a:rPr lang="en-US" altLang="zh-CN" dirty="0">
                <a:ea typeface="ＭＳ Ｐゴシック" charset="-128"/>
              </a:rPr>
              <a:t>Implementation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15365" name="Slide Number Placeholder 4"/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335271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962301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457188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5181470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8A7953E-15BA-164E-9D11-FB1FA54A36B3}" type="slidenum">
              <a:rPr lang="en-US" altLang="en-US">
                <a:solidFill>
                  <a:srgbClr val="898989"/>
                </a:solidFill>
              </a:rPr>
              <a:pPr/>
              <a:t>12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9317" y="1385207"/>
            <a:ext cx="5350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Input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of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LSTM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Model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05278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630767" y="2137834"/>
            <a:ext cx="11087100" cy="4872567"/>
          </a:xfrm>
        </p:spPr>
        <p:txBody>
          <a:bodyPr/>
          <a:lstStyle/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  <a:cs typeface="+mn-cs"/>
              </a:rPr>
              <a:t>We frame the trading strategy as a </a:t>
            </a:r>
            <a:r>
              <a:rPr lang="en-US" altLang="zh-CN" sz="2400" dirty="0">
                <a:latin typeface="Calibri" pitchFamily="34" charset="0"/>
                <a:ea typeface="ＭＳ Ｐゴシック" pitchFamily="34" charset="-128"/>
                <a:cs typeface="+mn-cs"/>
              </a:rPr>
              <a:t>binary classification problem</a:t>
            </a:r>
          </a:p>
          <a:p>
            <a:pPr indent="0">
              <a:spcBef>
                <a:spcPct val="0"/>
              </a:spcBef>
              <a:defRPr/>
            </a:pPr>
            <a:endParaRPr lang="en-US" altLang="zh-CN" sz="2400" b="0" dirty="0">
              <a:latin typeface="Calibri" pitchFamily="34" charset="0"/>
              <a:ea typeface="ＭＳ Ｐゴシック" pitchFamily="34" charset="-128"/>
              <a:cs typeface="+mn-cs"/>
            </a:endParaRP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  <a:cs typeface="+mn-cs"/>
              </a:rPr>
              <a:t>Stocks are classified into two types, winner (class 1) and loser (class 0)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  <a:cs typeface="+mn-cs"/>
              </a:rPr>
              <a:t>The label is given by stocks’</a:t>
            </a:r>
            <a:r>
              <a:rPr lang="zh-CN" altLang="en-US" sz="2400" b="0" dirty="0">
                <a:latin typeface="Calibri" pitchFamily="34" charset="0"/>
                <a:ea typeface="ＭＳ Ｐゴシック" pitchFamily="34" charset="-128"/>
                <a:cs typeface="+mn-cs"/>
              </a:rPr>
              <a:t> </a:t>
            </a:r>
            <a:r>
              <a:rPr lang="en-US" altLang="zh-CN" sz="2400" b="0" dirty="0">
                <a:latin typeface="Calibri" pitchFamily="34" charset="0"/>
                <a:ea typeface="ＭＳ Ｐゴシック" pitchFamily="34" charset="-128"/>
                <a:cs typeface="+mn-cs"/>
              </a:rPr>
              <a:t>performance</a:t>
            </a:r>
            <a:r>
              <a:rPr lang="zh-CN" altLang="en-US" sz="2400" b="0" dirty="0">
                <a:latin typeface="Calibri" pitchFamily="34" charset="0"/>
                <a:ea typeface="ＭＳ Ｐゴシック" pitchFamily="34" charset="-128"/>
                <a:cs typeface="+mn-cs"/>
              </a:rPr>
              <a:t> </a:t>
            </a:r>
            <a:r>
              <a:rPr lang="en-US" altLang="zh-CN" sz="2400" b="0" dirty="0">
                <a:latin typeface="Calibri" pitchFamily="34" charset="0"/>
                <a:ea typeface="ＭＳ Ｐゴシック" pitchFamily="34" charset="-128"/>
                <a:cs typeface="+mn-cs"/>
              </a:rPr>
              <a:t>next</a:t>
            </a:r>
            <a:r>
              <a:rPr lang="zh-CN" altLang="en-US" sz="2400" b="0" dirty="0">
                <a:latin typeface="Calibri" pitchFamily="34" charset="0"/>
                <a:ea typeface="ＭＳ Ｐゴシック" pitchFamily="34" charset="-128"/>
                <a:cs typeface="+mn-cs"/>
              </a:rPr>
              <a:t> </a:t>
            </a:r>
            <a:r>
              <a:rPr lang="en-US" altLang="zh-CN" sz="2400" b="0" dirty="0">
                <a:latin typeface="Calibri" pitchFamily="34" charset="0"/>
                <a:ea typeface="ＭＳ Ｐゴシック" pitchFamily="34" charset="-128"/>
                <a:cs typeface="+mn-cs"/>
              </a:rPr>
              <a:t>month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</a:rPr>
              <a:t>We classify</a:t>
            </a:r>
            <a:r>
              <a:rPr lang="zh-CN" altLang="en-US" sz="2400" b="0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altLang="zh-CN" sz="2400" b="0" dirty="0">
                <a:latin typeface="Calibri" pitchFamily="34" charset="0"/>
                <a:ea typeface="ＭＳ Ｐゴシック" pitchFamily="34" charset="-128"/>
              </a:rPr>
              <a:t>a stock</a:t>
            </a:r>
            <a:r>
              <a:rPr lang="zh-CN" altLang="en-US" sz="2400" b="0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altLang="zh-CN" sz="2400" b="0" dirty="0">
                <a:latin typeface="Calibri" pitchFamily="34" charset="0"/>
                <a:ea typeface="ＭＳ Ｐゴシック" pitchFamily="34" charset="-128"/>
              </a:rPr>
              <a:t>as</a:t>
            </a:r>
            <a:r>
              <a:rPr lang="zh-CN" altLang="en-US" sz="2400" b="0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altLang="zh-CN" sz="2400" b="0" dirty="0">
                <a:latin typeface="Calibri" pitchFamily="34" charset="0"/>
                <a:ea typeface="ＭＳ Ｐゴシック" pitchFamily="34" charset="-128"/>
              </a:rPr>
              <a:t>winner/loser if</a:t>
            </a:r>
            <a:r>
              <a:rPr lang="zh-CN" altLang="en-US" sz="2400" b="0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altLang="zh-CN" sz="2400" b="0" dirty="0">
                <a:latin typeface="Calibri" pitchFamily="34" charset="0"/>
                <a:ea typeface="ＭＳ Ｐゴシック" pitchFamily="34" charset="-128"/>
              </a:rPr>
              <a:t>its</a:t>
            </a:r>
            <a:r>
              <a:rPr lang="zh-CN" altLang="en-US" sz="2400" b="0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altLang="zh-CN" sz="2400" b="0" dirty="0">
                <a:latin typeface="Calibri" pitchFamily="34" charset="0"/>
                <a:ea typeface="ＭＳ Ｐゴシック" pitchFamily="34" charset="-128"/>
              </a:rPr>
              <a:t>return</a:t>
            </a:r>
            <a:r>
              <a:rPr lang="zh-CN" altLang="en-US" sz="2400" b="0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altLang="zh-CN" sz="2400" b="0" dirty="0">
                <a:latin typeface="Calibri" pitchFamily="34" charset="0"/>
                <a:ea typeface="ＭＳ Ｐゴシック" pitchFamily="34" charset="-128"/>
              </a:rPr>
              <a:t>is</a:t>
            </a:r>
            <a:r>
              <a:rPr lang="zh-CN" altLang="en-US" sz="2400" b="0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altLang="zh-CN" sz="2400" b="0" dirty="0">
                <a:latin typeface="Calibri" pitchFamily="34" charset="0"/>
                <a:ea typeface="ＭＳ Ｐゴシック" pitchFamily="34" charset="-128"/>
              </a:rPr>
              <a:t>above/below the</a:t>
            </a:r>
            <a:r>
              <a:rPr lang="zh-CN" altLang="en-US" sz="2400" b="0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altLang="zh-CN" sz="2400" b="0" dirty="0">
                <a:latin typeface="Calibri" pitchFamily="34" charset="0"/>
                <a:ea typeface="ＭＳ Ｐゴシック" pitchFamily="34" charset="-128"/>
              </a:rPr>
              <a:t>median</a:t>
            </a:r>
            <a:r>
              <a:rPr lang="zh-CN" altLang="en-US" sz="2400" b="0" dirty="0">
                <a:latin typeface="Calibri" pitchFamily="34" charset="0"/>
                <a:ea typeface="ＭＳ Ｐゴシック" pitchFamily="34" charset="-128"/>
              </a:rPr>
              <a:t> </a:t>
            </a:r>
            <a:r>
              <a:rPr lang="en-US" altLang="zh-CN" sz="2400" b="0" dirty="0">
                <a:latin typeface="Calibri" pitchFamily="34" charset="0"/>
                <a:ea typeface="ＭＳ Ｐゴシック" pitchFamily="34" charset="-128"/>
              </a:rPr>
              <a:t>return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en-US" altLang="zh-CN" sz="2400" b="0" dirty="0">
              <a:latin typeface="Calibri" pitchFamily="34" charset="0"/>
              <a:ea typeface="ＭＳ Ｐゴシック" pitchFamily="34" charset="-128"/>
            </a:endParaRP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</a:rPr>
              <a:t>LSTMs are used as a hidden layer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400" b="0" dirty="0">
                <a:latin typeface="Calibri" pitchFamily="34" charset="0"/>
                <a:ea typeface="ＭＳ Ｐゴシック" pitchFamily="34" charset="-128"/>
              </a:rPr>
              <a:t>The classification is done by combining LSTM output through a sigmoid neuron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endParaRPr lang="en-US" altLang="zh-CN" sz="2400" b="0" dirty="0">
              <a:latin typeface="Calibri" pitchFamily="34" charset="0"/>
              <a:ea typeface="ＭＳ Ｐゴシック" pitchFamily="34" charset="-128"/>
            </a:endParaRPr>
          </a:p>
          <a:p>
            <a:pPr indent="0">
              <a:spcBef>
                <a:spcPct val="0"/>
              </a:spcBef>
              <a:defRPr/>
            </a:pPr>
            <a:endParaRPr lang="en-US" altLang="zh-CN" sz="2400" b="0" dirty="0">
              <a:latin typeface="Calibri" pitchFamily="34" charset="0"/>
              <a:ea typeface="ＭＳ Ｐゴシック" pitchFamily="34" charset="-128"/>
              <a:cs typeface="+mn-cs"/>
            </a:endParaRPr>
          </a:p>
          <a:p>
            <a:pPr marL="114311" indent="-571500">
              <a:spcBef>
                <a:spcPct val="0"/>
              </a:spcBef>
              <a:buFont typeface="Arial" charset="0"/>
              <a:buChar char="•"/>
              <a:defRPr/>
            </a:pPr>
            <a:endParaRPr lang="en-US" sz="2400" b="0" dirty="0">
              <a:latin typeface="Calibri" pitchFamily="34" charset="0"/>
              <a:ea typeface="ＭＳ Ｐゴシック" pitchFamily="34" charset="-128"/>
              <a:cs typeface="+mn-cs"/>
            </a:endParaRPr>
          </a:p>
        </p:txBody>
      </p:sp>
      <p:sp>
        <p:nvSpPr>
          <p:cNvPr id="15363" name="Text Placeholder 2"/>
          <p:cNvSpPr>
            <a:spLocks noGrp="1"/>
          </p:cNvSpPr>
          <p:nvPr>
            <p:ph type="body" sz="quarter" idx="14"/>
          </p:nvPr>
        </p:nvSpPr>
        <p:spPr bwMode="auto">
          <a:xfrm>
            <a:off x="8235951" y="304801"/>
            <a:ext cx="3653367" cy="3534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ea typeface="ＭＳ Ｐゴシック" charset="-128"/>
              </a:rPr>
              <a:t>LSTM</a:t>
            </a:r>
            <a:r>
              <a:rPr lang="zh-CN" altLang="en-US" dirty="0">
                <a:ea typeface="ＭＳ Ｐゴシック" charset="-128"/>
              </a:rPr>
              <a:t> </a:t>
            </a:r>
            <a:r>
              <a:rPr lang="en-US" altLang="zh-CN" dirty="0">
                <a:ea typeface="ＭＳ Ｐゴシック" charset="-128"/>
              </a:rPr>
              <a:t>Implementation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15365" name="Slide Number Placeholder 4"/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335271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962301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457188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5181470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8A7953E-15BA-164E-9D11-FB1FA54A36B3}" type="slidenum">
              <a:rPr lang="en-US" altLang="en-US">
                <a:solidFill>
                  <a:srgbClr val="898989"/>
                </a:solidFill>
              </a:rPr>
              <a:pPr/>
              <a:t>13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9317" y="1385207"/>
            <a:ext cx="5350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Target of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LSTM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Model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601823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64" y="2282630"/>
            <a:ext cx="5397500" cy="3746500"/>
          </a:xfrm>
          <a:prstGeom prst="rect">
            <a:avLst/>
          </a:prstGeom>
        </p:spPr>
      </p:pic>
      <p:sp>
        <p:nvSpPr>
          <p:cNvPr id="15363" name="Text Placeholder 2"/>
          <p:cNvSpPr>
            <a:spLocks noGrp="1"/>
          </p:cNvSpPr>
          <p:nvPr>
            <p:ph type="body" sz="quarter" idx="14"/>
          </p:nvPr>
        </p:nvSpPr>
        <p:spPr bwMode="auto">
          <a:xfrm>
            <a:off x="8235951" y="304801"/>
            <a:ext cx="3653367" cy="3534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ea typeface="ＭＳ Ｐゴシック" charset="-128"/>
              </a:rPr>
              <a:t>LSTM</a:t>
            </a:r>
            <a:r>
              <a:rPr lang="zh-CN" altLang="en-US" dirty="0">
                <a:ea typeface="ＭＳ Ｐゴシック" charset="-128"/>
              </a:rPr>
              <a:t> </a:t>
            </a:r>
            <a:r>
              <a:rPr lang="en-US" altLang="zh-CN" dirty="0">
                <a:ea typeface="ＭＳ Ｐゴシック" charset="-128"/>
              </a:rPr>
              <a:t>Implementation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15365" name="Slide Number Placeholder 4"/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335271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962301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457188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5181470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8A7953E-15BA-164E-9D11-FB1FA54A36B3}" type="slidenum">
              <a:rPr lang="en-US" altLang="en-US">
                <a:solidFill>
                  <a:srgbClr val="898989"/>
                </a:solidFill>
              </a:rPr>
              <a:pPr/>
              <a:t>14</a:t>
            </a:fld>
            <a:endParaRPr lang="en-US" altLang="en-US" dirty="0">
              <a:solidFill>
                <a:srgbClr val="898989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78599" y="1385207"/>
            <a:ext cx="53975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20</a:t>
            </a:r>
            <a:r>
              <a:rPr lang="zh-CN" altLang="en-US" dirty="0"/>
              <a:t> </a:t>
            </a:r>
            <a:r>
              <a:rPr lang="en-US" altLang="zh-CN" dirty="0"/>
              <a:t>lookback</a:t>
            </a:r>
            <a:r>
              <a:rPr lang="zh-CN" altLang="en-US" dirty="0"/>
              <a:t> </a:t>
            </a:r>
            <a:r>
              <a:rPr lang="en-US" altLang="zh-CN" dirty="0"/>
              <a:t>period</a:t>
            </a:r>
            <a:r>
              <a:rPr lang="zh-CN" altLang="en-US" dirty="0"/>
              <a:t> * </a:t>
            </a:r>
            <a:r>
              <a:rPr lang="en-US" altLang="zh-CN" b="1" dirty="0"/>
              <a:t>64</a:t>
            </a:r>
            <a:r>
              <a:rPr lang="zh-CN" altLang="en-US" dirty="0"/>
              <a:t> </a:t>
            </a:r>
            <a:r>
              <a:rPr lang="en-US" altLang="zh-CN" dirty="0"/>
              <a:t>features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period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(10</a:t>
            </a:r>
            <a:r>
              <a:rPr lang="zh-CN" altLang="en-US" dirty="0"/>
              <a:t> </a:t>
            </a:r>
            <a:r>
              <a:rPr lang="en-US" altLang="zh-CN" dirty="0"/>
              <a:t>technical</a:t>
            </a:r>
            <a:r>
              <a:rPr lang="zh-CN" altLang="en-US" dirty="0"/>
              <a:t> </a:t>
            </a:r>
            <a:r>
              <a:rPr lang="en-US" altLang="zh-CN" dirty="0"/>
              <a:t>indicators</a:t>
            </a:r>
            <a:r>
              <a:rPr lang="zh-CN" altLang="en-US" dirty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54</a:t>
            </a:r>
            <a:r>
              <a:rPr lang="zh-CN" altLang="en-US" dirty="0"/>
              <a:t> </a:t>
            </a:r>
            <a:r>
              <a:rPr lang="en-US" altLang="zh-CN" dirty="0"/>
              <a:t>stocks’</a:t>
            </a:r>
            <a:r>
              <a:rPr lang="zh-CN" altLang="en-US" dirty="0"/>
              <a:t> </a:t>
            </a:r>
            <a:r>
              <a:rPr lang="en-US" altLang="zh-CN" dirty="0"/>
              <a:t>daily</a:t>
            </a:r>
            <a:r>
              <a:rPr lang="zh-CN" altLang="en-US" dirty="0"/>
              <a:t> </a:t>
            </a:r>
            <a:r>
              <a:rPr lang="en-US" altLang="zh-CN" dirty="0"/>
              <a:t>return)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altLang="zh-CN" b="1" dirty="0"/>
              <a:t>50</a:t>
            </a:r>
            <a:r>
              <a:rPr lang="zh-CN" altLang="en-US" dirty="0"/>
              <a:t> </a:t>
            </a:r>
            <a:r>
              <a:rPr lang="en-US" altLang="zh-CN" dirty="0"/>
              <a:t>LSTM</a:t>
            </a:r>
            <a:r>
              <a:rPr lang="zh-CN" altLang="en-US" dirty="0"/>
              <a:t> </a:t>
            </a:r>
            <a:r>
              <a:rPr lang="en-US" altLang="zh-CN" dirty="0"/>
              <a:t>Block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altLang="zh-CN" b="1" dirty="0"/>
              <a:t>1</a:t>
            </a:r>
            <a:r>
              <a:rPr lang="zh-CN" altLang="en-US" dirty="0"/>
              <a:t> </a:t>
            </a:r>
            <a:r>
              <a:rPr lang="en-US" altLang="zh-CN" dirty="0"/>
              <a:t>Sigmoid Output Neuron</a:t>
            </a:r>
            <a:endParaRPr lang="en-US" dirty="0"/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9277349" y="2133600"/>
            <a:ext cx="0" cy="582328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</p:cNvCxnSpPr>
          <p:nvPr/>
        </p:nvCxnSpPr>
        <p:spPr>
          <a:xfrm flipH="1">
            <a:off x="9277349" y="3228286"/>
            <a:ext cx="9525" cy="603709"/>
          </a:xfrm>
          <a:prstGeom prst="straightConnector1">
            <a:avLst/>
          </a:prstGeom>
          <a:ln w="50800">
            <a:solidFill>
              <a:schemeClr val="accent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5D8F1B7-1565-4DDC-9C27-60E045D0F6F0}"/>
              </a:ext>
            </a:extLst>
          </p:cNvPr>
          <p:cNvSpPr txBox="1"/>
          <p:nvPr/>
        </p:nvSpPr>
        <p:spPr>
          <a:xfrm>
            <a:off x="459317" y="1385207"/>
            <a:ext cx="5350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Structure of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our Neural Network</a:t>
            </a:r>
            <a:endParaRPr lang="en-US" sz="2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2A5C27-9CF6-419B-AD03-FD99FBA3DE9A}"/>
              </a:ext>
            </a:extLst>
          </p:cNvPr>
          <p:cNvSpPr txBox="1"/>
          <p:nvPr/>
        </p:nvSpPr>
        <p:spPr>
          <a:xfrm>
            <a:off x="6628842" y="5184742"/>
            <a:ext cx="53160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stock has its own LSTM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classification of each stock is independent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Implemented on </a:t>
            </a:r>
            <a:r>
              <a:rPr lang="en-US" dirty="0" err="1"/>
              <a:t>Tensorflow</a:t>
            </a:r>
            <a:r>
              <a:rPr lang="en-US" dirty="0"/>
              <a:t> + </a:t>
            </a:r>
            <a:r>
              <a:rPr lang="en-US" dirty="0" err="1"/>
              <a:t>Keras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97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ext Placeholder 2"/>
          <p:cNvSpPr>
            <a:spLocks noGrp="1"/>
          </p:cNvSpPr>
          <p:nvPr>
            <p:ph type="body" sz="quarter" idx="14"/>
          </p:nvPr>
        </p:nvSpPr>
        <p:spPr bwMode="auto">
          <a:xfrm>
            <a:off x="8235951" y="304801"/>
            <a:ext cx="3653367" cy="3534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ea typeface="ＭＳ Ｐゴシック" charset="-128"/>
              </a:rPr>
              <a:t>LSTM</a:t>
            </a:r>
            <a:r>
              <a:rPr lang="zh-CN" altLang="en-US" dirty="0">
                <a:ea typeface="ＭＳ Ｐゴシック" charset="-128"/>
              </a:rPr>
              <a:t> </a:t>
            </a:r>
            <a:r>
              <a:rPr lang="en-US" altLang="zh-CN" dirty="0">
                <a:ea typeface="ＭＳ Ｐゴシック" charset="-128"/>
              </a:rPr>
              <a:t>Implementation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15365" name="Slide Number Placeholder 4"/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335271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962301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457188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5181470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8A7953E-15BA-164E-9D11-FB1FA54A36B3}" type="slidenum">
              <a:rPr lang="en-US" altLang="en-US">
                <a:solidFill>
                  <a:srgbClr val="898989"/>
                </a:solidFill>
              </a:rPr>
              <a:pPr/>
              <a:t>15</a:t>
            </a:fld>
            <a:endParaRPr lang="en-US" altLang="en-US">
              <a:solidFill>
                <a:srgbClr val="898989"/>
              </a:solidFill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176743044"/>
              </p:ext>
            </p:extLst>
          </p:nvPr>
        </p:nvGraphicFramePr>
        <p:xfrm>
          <a:off x="351191" y="1862690"/>
          <a:ext cx="6247484" cy="4627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101856706"/>
              </p:ext>
            </p:extLst>
          </p:nvPr>
        </p:nvGraphicFramePr>
        <p:xfrm>
          <a:off x="6909848" y="1697173"/>
          <a:ext cx="5229978" cy="4856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9" name="Right Arrow 8"/>
          <p:cNvSpPr/>
          <p:nvPr/>
        </p:nvSpPr>
        <p:spPr>
          <a:xfrm>
            <a:off x="5945799" y="3846126"/>
            <a:ext cx="964049" cy="440611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345015" y="1146060"/>
            <a:ext cx="5350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/>
              <a:t>Program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Workflow</a:t>
            </a:r>
            <a:endParaRPr lang="en-US" sz="2400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DD6632-258B-4E92-98E4-64095F5890AD}"/>
              </a:ext>
            </a:extLst>
          </p:cNvPr>
          <p:cNvGrpSpPr/>
          <p:nvPr/>
        </p:nvGrpSpPr>
        <p:grpSpPr>
          <a:xfrm>
            <a:off x="332663" y="1521421"/>
            <a:ext cx="7719958" cy="3668035"/>
            <a:chOff x="-1472475" y="0"/>
            <a:chExt cx="7719958" cy="366803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23734B-9985-4B5E-9493-3A6E9E37EA57}"/>
                </a:ext>
              </a:extLst>
            </p:cNvPr>
            <p:cNvSpPr/>
            <p:nvPr/>
          </p:nvSpPr>
          <p:spPr>
            <a:xfrm>
              <a:off x="4755742" y="0"/>
              <a:ext cx="1491741" cy="116037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B92ABC5-04F1-4E62-A885-407F6E597A67}"/>
                </a:ext>
              </a:extLst>
            </p:cNvPr>
            <p:cNvSpPr txBox="1"/>
            <p:nvPr/>
          </p:nvSpPr>
          <p:spPr>
            <a:xfrm>
              <a:off x="-1472475" y="1989361"/>
              <a:ext cx="2481238" cy="167867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zh-CN" sz="1800" kern="1200" dirty="0"/>
                <a:t>Calculate</a:t>
              </a:r>
              <a:r>
                <a:rPr lang="zh-CN" altLang="en-US" sz="1800" kern="1200" dirty="0"/>
                <a:t> </a:t>
              </a:r>
              <a:r>
                <a:rPr lang="en-US" altLang="zh-CN" sz="1800" kern="1200" dirty="0"/>
                <a:t>10</a:t>
              </a:r>
              <a:r>
                <a:rPr lang="zh-CN" altLang="en-US" sz="1800" kern="1200" dirty="0"/>
                <a:t> </a:t>
              </a:r>
              <a:r>
                <a:rPr lang="en-US" altLang="zh-CN" sz="1800" kern="1200" dirty="0"/>
                <a:t>indicators</a:t>
              </a:r>
              <a:endParaRPr lang="en-US" sz="1800" kern="1200" dirty="0"/>
            </a:p>
            <a:p>
              <a:pPr marL="171450" lvl="1" indent="-171450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altLang="zh-CN" sz="1800" kern="1200" dirty="0"/>
                <a:t>Get</a:t>
              </a:r>
              <a:r>
                <a:rPr lang="zh-CN" altLang="en-US" sz="1800" kern="1200" dirty="0"/>
                <a:t> </a:t>
              </a:r>
              <a:r>
                <a:rPr lang="en-US" altLang="zh-CN" sz="1800" kern="1200" dirty="0"/>
                <a:t>target</a:t>
              </a:r>
              <a:r>
                <a:rPr lang="zh-CN" altLang="en-US" sz="1800" kern="1200" dirty="0"/>
                <a:t> </a:t>
              </a:r>
              <a:r>
                <a:rPr lang="en-US" altLang="zh-CN" sz="1800" kern="1200" dirty="0"/>
                <a:t>variable:</a:t>
              </a:r>
              <a:r>
                <a:rPr lang="zh-CN" altLang="en-US" sz="1800" kern="1200" dirty="0"/>
                <a:t> </a:t>
              </a:r>
              <a:r>
                <a:rPr lang="en-US" altLang="zh-CN" sz="1800" kern="1200" dirty="0"/>
                <a:t>classify</a:t>
              </a:r>
              <a:r>
                <a:rPr lang="zh-CN" altLang="en-US" sz="1800" kern="1200" dirty="0"/>
                <a:t> </a:t>
              </a:r>
              <a:r>
                <a:rPr lang="en-US" altLang="zh-CN" sz="1800" kern="1200" dirty="0"/>
                <a:t>stocks</a:t>
              </a:r>
              <a:r>
                <a:rPr lang="zh-CN" altLang="en-US" sz="1800" kern="1200" dirty="0"/>
                <a:t> </a:t>
              </a:r>
              <a:r>
                <a:rPr lang="en-US" altLang="zh-CN" sz="1800" kern="1200" dirty="0"/>
                <a:t>into</a:t>
              </a:r>
              <a:r>
                <a:rPr lang="zh-CN" altLang="en-US" sz="1800" kern="1200" dirty="0"/>
                <a:t> </a:t>
              </a:r>
              <a:r>
                <a:rPr lang="en-US" altLang="zh-CN" sz="1800" kern="1200" dirty="0"/>
                <a:t>winning/losing</a:t>
              </a:r>
              <a:r>
                <a:rPr lang="zh-CN" altLang="en-US" sz="1800" kern="1200" dirty="0"/>
                <a:t> </a:t>
              </a:r>
              <a:r>
                <a:rPr lang="en-US" altLang="zh-CN" sz="1800" kern="1200" dirty="0"/>
                <a:t>group</a:t>
              </a:r>
              <a:endParaRPr lang="en-US" sz="1800" kern="1200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3ACA8C4-9B7A-47D7-8FB0-467C7C678F01}"/>
              </a:ext>
            </a:extLst>
          </p:cNvPr>
          <p:cNvSpPr txBox="1"/>
          <p:nvPr/>
        </p:nvSpPr>
        <p:spPr>
          <a:xfrm>
            <a:off x="3831579" y="4677677"/>
            <a:ext cx="2481238" cy="1678674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8580" tIns="68580" rIns="68580" bIns="68580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altLang="zh-CN" sz="1800" kern="1200" dirty="0"/>
              <a:t>Prediction next month’s winner/loser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dirty="0"/>
              <a:t>Add next month’s data to training set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1800" kern="1200" dirty="0"/>
              <a:t>Retrain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en-US" sz="1800" kern="1200" dirty="0"/>
          </a:p>
        </p:txBody>
      </p:sp>
    </p:spTree>
    <p:extLst>
      <p:ext uri="{BB962C8B-B14F-4D97-AF65-F5344CB8AC3E}">
        <p14:creationId xmlns:p14="http://schemas.microsoft.com/office/powerpoint/2010/main" val="691428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84A5D5-4CB0-4254-A265-F5DCEDC926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2297" y="1202122"/>
            <a:ext cx="4703145" cy="584257"/>
          </a:xfrm>
        </p:spPr>
        <p:txBody>
          <a:bodyPr/>
          <a:lstStyle/>
          <a:p>
            <a:r>
              <a:rPr lang="en-US" dirty="0"/>
              <a:t>Parameters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40DC41-D299-43AF-BCC2-B476CD9B7668}"/>
              </a:ext>
            </a:extLst>
          </p:cNvPr>
          <p:cNvSpPr txBox="1"/>
          <p:nvPr/>
        </p:nvSpPr>
        <p:spPr>
          <a:xfrm>
            <a:off x="655319" y="2087880"/>
            <a:ext cx="11363855" cy="4190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holding = 20 			# Holding period and retrain frequency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rf = 0.02/12 			# Risk-free rate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n_block_len</a:t>
            </a:r>
            <a:r>
              <a:rPr lang="en-US" sz="2000" dirty="0"/>
              <a:t> = 200 		# Length of historical data used in training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training_ratio</a:t>
            </a:r>
            <a:r>
              <a:rPr lang="en-US" sz="2000" dirty="0"/>
              <a:t> = 0.8 		# Ratio of samples used in training, others used as </a:t>
            </a:r>
            <a:r>
              <a:rPr lang="en-US" sz="2000" b="1" dirty="0"/>
              <a:t>validation</a:t>
            </a:r>
            <a:r>
              <a:rPr lang="en-US" sz="2000" dirty="0"/>
              <a:t> set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lookback_window</a:t>
            </a:r>
            <a:r>
              <a:rPr lang="en-US" sz="2000" dirty="0"/>
              <a:t> = 20 		# Days of info in one training sample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first_train_max_epoch</a:t>
            </a:r>
            <a:r>
              <a:rPr lang="en-US" sz="2000" dirty="0"/>
              <a:t> = 150 	# </a:t>
            </a:r>
            <a:r>
              <a:rPr lang="en-US" sz="2000" b="1" dirty="0"/>
              <a:t>Maximum</a:t>
            </a:r>
            <a:r>
              <a:rPr lang="en-US" sz="2000" dirty="0"/>
              <a:t> training epoch after network initialization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online_train_max_epoch</a:t>
            </a:r>
            <a:r>
              <a:rPr lang="en-US" sz="2000" dirty="0"/>
              <a:t> = 150 	# </a:t>
            </a:r>
            <a:r>
              <a:rPr lang="en-US" sz="2000" b="1" dirty="0"/>
              <a:t>Maximum</a:t>
            </a:r>
            <a:r>
              <a:rPr lang="en-US" sz="2000" dirty="0"/>
              <a:t> training epoch once new data comes in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n_LSTM_node</a:t>
            </a:r>
            <a:r>
              <a:rPr lang="en-US" sz="2000" dirty="0"/>
              <a:t> = 50 		# number of LSTM blocks used in network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block_start_idx</a:t>
            </a:r>
            <a:r>
              <a:rPr lang="en-US" sz="2000" dirty="0"/>
              <a:t> = 300  		# Start point to train, i.e. 2009/05/08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300810D-832F-45C1-A798-DF68407DCA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ea typeface="ＭＳ Ｐゴシック" charset="-128"/>
              </a:rPr>
              <a:t>LSTM</a:t>
            </a:r>
            <a:r>
              <a:rPr lang="zh-CN" altLang="en-US" dirty="0">
                <a:ea typeface="ＭＳ Ｐゴシック" charset="-128"/>
              </a:rPr>
              <a:t> </a:t>
            </a:r>
            <a:r>
              <a:rPr lang="en-US" altLang="zh-CN" dirty="0">
                <a:ea typeface="ＭＳ Ｐゴシック" charset="-128"/>
              </a:rPr>
              <a:t>Implementation</a:t>
            </a:r>
            <a:endParaRPr lang="en-US" altLang="en-US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2271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CA94E4-BAFA-41A2-9D52-8F92A98DCA5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461" y="1159294"/>
            <a:ext cx="10081967" cy="551264"/>
          </a:xfrm>
        </p:spPr>
        <p:txBody>
          <a:bodyPr/>
          <a:lstStyle/>
          <a:p>
            <a:r>
              <a:rPr lang="en-US" dirty="0"/>
              <a:t>Optimization: </a:t>
            </a:r>
            <a:r>
              <a:rPr lang="en-US" sz="2800" dirty="0"/>
              <a:t>Cloud Computing &amp; GPU Acceleration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8E53D-6E49-453C-BBC0-AA96CEA33584}"/>
              </a:ext>
            </a:extLst>
          </p:cNvPr>
          <p:cNvSpPr txBox="1"/>
          <p:nvPr/>
        </p:nvSpPr>
        <p:spPr>
          <a:xfrm>
            <a:off x="551468" y="1918355"/>
            <a:ext cx="90167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Motivation: </a:t>
            </a:r>
          </a:p>
          <a:p>
            <a:r>
              <a:rPr lang="en-US" dirty="0"/>
              <a:t>Each stock needs to run a neural network with 50 LSTM blocks</a:t>
            </a:r>
          </a:p>
          <a:p>
            <a:r>
              <a:rPr lang="en-US" dirty="0"/>
              <a:t>Time consuming, complete rolling prediction needs </a:t>
            </a:r>
            <a:r>
              <a:rPr lang="en-US" b="1" dirty="0"/>
              <a:t>&gt;5 hours</a:t>
            </a:r>
          </a:p>
          <a:p>
            <a:endParaRPr lang="en-US" dirty="0"/>
          </a:p>
          <a:p>
            <a:r>
              <a:rPr lang="en-US" b="1" dirty="0"/>
              <a:t>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use Amazon AWS EC2 cloud platform to run our training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computation server has 36 vCPUs and 72GB memory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 local machine, we use CUDA technology to accelerate training by utilizing GPU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38974C-DF8B-4A6B-B8B2-F88C44B27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62" y="5504048"/>
            <a:ext cx="11443734" cy="973329"/>
          </a:xfrm>
          <a:prstGeom prst="rect">
            <a:avLst/>
          </a:prstGeom>
        </p:spPr>
      </p:pic>
      <p:pic>
        <p:nvPicPr>
          <p:cNvPr id="5122" name="Picture 2" descr="NVIDIA CUDA Logo">
            <a:extLst>
              <a:ext uri="{FF2B5EF4-FFF2-40B4-BE49-F238E27FC236}">
                <a16:creationId xmlns:a16="http://schemas.microsoft.com/office/drawing/2014/main" id="{0ABDD363-B837-4582-89AE-0AF9C9CBD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2776" y="4082006"/>
            <a:ext cx="1619643" cy="1249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8E35EB6-AE4E-4EE1-9309-B46830F1A6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auto">
          <a:xfrm>
            <a:off x="8235951" y="304801"/>
            <a:ext cx="3653367" cy="3534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ea typeface="ＭＳ Ｐゴシック" charset="-128"/>
              </a:rPr>
              <a:t>LSTM</a:t>
            </a:r>
            <a:r>
              <a:rPr lang="zh-CN" altLang="en-US" dirty="0">
                <a:ea typeface="ＭＳ Ｐゴシック" charset="-128"/>
              </a:rPr>
              <a:t> </a:t>
            </a:r>
            <a:r>
              <a:rPr lang="en-US" altLang="zh-CN" dirty="0">
                <a:ea typeface="ＭＳ Ｐゴシック" charset="-128"/>
              </a:rPr>
              <a:t>Implementation</a:t>
            </a:r>
            <a:endParaRPr lang="en-US" altLang="en-US" dirty="0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4004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439803-D653-47E1-9536-AE62BE3656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8029" y="5198882"/>
            <a:ext cx="11038787" cy="1087618"/>
          </a:xfrm>
        </p:spPr>
        <p:txBody>
          <a:bodyPr/>
          <a:lstStyle/>
          <a:p>
            <a:r>
              <a:rPr lang="en-US" altLang="zh-CN" dirty="0">
                <a:latin typeface="Calibri" pitchFamily="34" charset="0"/>
                <a:ea typeface="ＭＳ Ｐゴシック" pitchFamily="34" charset="-128"/>
              </a:rPr>
              <a:t>Back Testing Result</a:t>
            </a:r>
          </a:p>
        </p:txBody>
      </p:sp>
    </p:spTree>
    <p:extLst>
      <p:ext uri="{BB962C8B-B14F-4D97-AF65-F5344CB8AC3E}">
        <p14:creationId xmlns:p14="http://schemas.microsoft.com/office/powerpoint/2010/main" val="161741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ext Placeholder 2"/>
          <p:cNvSpPr>
            <a:spLocks noGrp="1"/>
          </p:cNvSpPr>
          <p:nvPr>
            <p:ph type="body" sz="quarter" idx="14"/>
          </p:nvPr>
        </p:nvSpPr>
        <p:spPr bwMode="auto">
          <a:xfrm>
            <a:off x="8235951" y="304801"/>
            <a:ext cx="3653367" cy="3534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ea typeface="ＭＳ Ｐゴシック" charset="-128"/>
              </a:rPr>
              <a:t>Back Testing Result</a:t>
            </a:r>
          </a:p>
        </p:txBody>
      </p:sp>
      <p:sp>
        <p:nvSpPr>
          <p:cNvPr id="15365" name="Slide Number Placeholder 4"/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335271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962301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457188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5181470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8A7953E-15BA-164E-9D11-FB1FA54A36B3}" type="slidenum">
              <a:rPr lang="en-US" altLang="en-US">
                <a:solidFill>
                  <a:srgbClr val="898989"/>
                </a:solidFill>
              </a:rPr>
              <a:pPr/>
              <a:t>19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5015" y="1146060"/>
            <a:ext cx="5350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Sample Classification Result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668F9A-25B4-4140-8C55-48E6496AD8E3}"/>
              </a:ext>
            </a:extLst>
          </p:cNvPr>
          <p:cNvSpPr txBox="1"/>
          <p:nvPr/>
        </p:nvSpPr>
        <p:spPr>
          <a:xfrm>
            <a:off x="1413705" y="5404465"/>
            <a:ext cx="56985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Predicted classification of 96 months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From 2010/02/23 to 2017/09/08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Our back testing will be conducted on these 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5D2C78-40F6-4249-881C-3A1B547AE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705" y="1988294"/>
            <a:ext cx="9364590" cy="288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840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08ED6D-E863-4AE1-B61A-77CBF67261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2298" y="1281229"/>
            <a:ext cx="11087404" cy="5165291"/>
          </a:xfrm>
        </p:spPr>
        <p:txBody>
          <a:bodyPr/>
          <a:lstStyle/>
          <a:p>
            <a:r>
              <a:rPr lang="en-US" dirty="0"/>
              <a:t>Trading Strategy</a:t>
            </a:r>
          </a:p>
          <a:p>
            <a:pPr indent="0"/>
            <a:endParaRPr lang="en-US" dirty="0"/>
          </a:p>
          <a:p>
            <a:pPr marL="11" indent="-457200">
              <a:buFont typeface="Arial" panose="020B0604020202020204" pitchFamily="34" charset="0"/>
              <a:buChar char="•"/>
            </a:pPr>
            <a:r>
              <a:rPr lang="en-US" b="0" dirty="0"/>
              <a:t>Rank each stock by its winning probability</a:t>
            </a:r>
          </a:p>
          <a:p>
            <a:pPr marL="1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11" indent="-457200">
              <a:buFont typeface="Arial" panose="020B0604020202020204" pitchFamily="34" charset="0"/>
              <a:buChar char="•"/>
            </a:pPr>
            <a:r>
              <a:rPr lang="en-US" dirty="0"/>
              <a:t>Strategy 1:</a:t>
            </a:r>
          </a:p>
          <a:p>
            <a:pPr marL="11" indent="-457200">
              <a:buFont typeface="Arial" panose="020B0604020202020204" pitchFamily="34" charset="0"/>
              <a:buChar char="•"/>
            </a:pPr>
            <a:r>
              <a:rPr lang="en-US" b="0" dirty="0"/>
              <a:t>Long the first N stocks</a:t>
            </a:r>
          </a:p>
          <a:p>
            <a:pPr marL="1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11" indent="-457200">
              <a:buFont typeface="Arial" panose="020B0604020202020204" pitchFamily="34" charset="0"/>
              <a:buChar char="•"/>
            </a:pPr>
            <a:r>
              <a:rPr lang="en-US" dirty="0"/>
              <a:t>Strategy 2:</a:t>
            </a:r>
          </a:p>
          <a:p>
            <a:pPr marL="11" indent="-457200">
              <a:buFont typeface="Arial" panose="020B0604020202020204" pitchFamily="34" charset="0"/>
              <a:buChar char="•"/>
            </a:pPr>
            <a:r>
              <a:rPr lang="en-US" b="0" dirty="0"/>
              <a:t>Long the first N and last N stocks</a:t>
            </a:r>
          </a:p>
          <a:p>
            <a:pPr marL="1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11" indent="-457200">
              <a:buFont typeface="Arial" panose="020B0604020202020204" pitchFamily="34" charset="0"/>
              <a:buChar char="•"/>
            </a:pPr>
            <a:r>
              <a:rPr lang="en-US" dirty="0"/>
              <a:t>Weight : </a:t>
            </a:r>
          </a:p>
          <a:p>
            <a:pPr marL="11" indent="-457200">
              <a:buFont typeface="Arial" panose="020B0604020202020204" pitchFamily="34" charset="0"/>
              <a:buChar char="•"/>
            </a:pPr>
            <a:r>
              <a:rPr lang="en-US" sz="2400" b="0" dirty="0"/>
              <a:t>Proportional to excess probability w.r.t. the minimum among selected stocks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229881D-4A23-47CC-BF89-9D32F48DB4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auto">
          <a:xfrm>
            <a:off x="8235951" y="304801"/>
            <a:ext cx="3653367" cy="3534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ea typeface="ＭＳ Ｐゴシック" charset="-128"/>
              </a:rPr>
              <a:t>Back Testing Result</a:t>
            </a:r>
          </a:p>
        </p:txBody>
      </p:sp>
    </p:spTree>
    <p:extLst>
      <p:ext uri="{BB962C8B-B14F-4D97-AF65-F5344CB8AC3E}">
        <p14:creationId xmlns:p14="http://schemas.microsoft.com/office/powerpoint/2010/main" val="3652754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Placeholder 2"/>
          <p:cNvSpPr>
            <a:spLocks noGrp="1"/>
          </p:cNvSpPr>
          <p:nvPr>
            <p:ph type="body" sz="quarter" idx="14"/>
          </p:nvPr>
        </p:nvSpPr>
        <p:spPr bwMode="auto">
          <a:xfrm>
            <a:off x="8235951" y="304801"/>
            <a:ext cx="3653367" cy="3534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ea typeface="ＭＳ Ｐゴシック" charset="-128"/>
              </a:rPr>
              <a:t>Back Testing Result</a:t>
            </a:r>
          </a:p>
        </p:txBody>
      </p:sp>
      <p:sp>
        <p:nvSpPr>
          <p:cNvPr id="19461" name="Slide Number Placeholder 4"/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335271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962301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457188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5181470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8AAE698-141F-5745-8ADE-AB0B3D722535}" type="slidenum">
              <a:rPr lang="en-US" altLang="en-US">
                <a:solidFill>
                  <a:srgbClr val="898989"/>
                </a:solidFill>
              </a:rPr>
              <a:pPr/>
              <a:t>21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6560" y="1140478"/>
            <a:ext cx="6381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Long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the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top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stock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in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the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winning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group</a:t>
            </a:r>
            <a:endParaRPr lang="en-US" sz="24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F9D0D9-40A3-4A47-AE19-347455D60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321392"/>
              </p:ext>
            </p:extLst>
          </p:nvPr>
        </p:nvGraphicFramePr>
        <p:xfrm>
          <a:off x="1179332" y="1987392"/>
          <a:ext cx="9833336" cy="1519925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2458334">
                  <a:extLst>
                    <a:ext uri="{9D8B030D-6E8A-4147-A177-3AD203B41FA5}">
                      <a16:colId xmlns:a16="http://schemas.microsoft.com/office/drawing/2014/main" val="942322113"/>
                    </a:ext>
                  </a:extLst>
                </a:gridCol>
                <a:gridCol w="2458334">
                  <a:extLst>
                    <a:ext uri="{9D8B030D-6E8A-4147-A177-3AD203B41FA5}">
                      <a16:colId xmlns:a16="http://schemas.microsoft.com/office/drawing/2014/main" val="1733090809"/>
                    </a:ext>
                  </a:extLst>
                </a:gridCol>
                <a:gridCol w="2458334">
                  <a:extLst>
                    <a:ext uri="{9D8B030D-6E8A-4147-A177-3AD203B41FA5}">
                      <a16:colId xmlns:a16="http://schemas.microsoft.com/office/drawing/2014/main" val="2475419842"/>
                    </a:ext>
                  </a:extLst>
                </a:gridCol>
                <a:gridCol w="2458334">
                  <a:extLst>
                    <a:ext uri="{9D8B030D-6E8A-4147-A177-3AD203B41FA5}">
                      <a16:colId xmlns:a16="http://schemas.microsoft.com/office/drawing/2014/main" val="2848989547"/>
                    </a:ext>
                  </a:extLst>
                </a:gridCol>
              </a:tblGrid>
              <a:tr h="30398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LSTM (Long 1)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LSTM (Long 2)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Benchmark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1854765"/>
                  </a:ext>
                </a:extLst>
              </a:tr>
              <a:tr h="30398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Sharpe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1.3518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1.6136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1.10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8038211"/>
                  </a:ext>
                </a:extLst>
              </a:tr>
              <a:tr h="30398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Maximum Drawdown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-13.21%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-14.82%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-18.67%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2796956"/>
                  </a:ext>
                </a:extLst>
              </a:tr>
              <a:tr h="30398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Annualized Return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38.33%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36.79%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16.23%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9455819"/>
                  </a:ext>
                </a:extLst>
              </a:tr>
              <a:tr h="30398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Cumulative Return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1241%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1126%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233%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9137500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F039AB7-E2D4-4757-810A-A1A51FABB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616" y="3796327"/>
            <a:ext cx="3827978" cy="285452"/>
          </a:xfrm>
          <a:prstGeom prst="rect">
            <a:avLst/>
          </a:prstGeom>
        </p:spPr>
      </p:pic>
      <p:pic>
        <p:nvPicPr>
          <p:cNvPr id="13" name="Picture 12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8CBD8233-441F-4D25-AE4A-481380A8EE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332" y="3921537"/>
            <a:ext cx="4549285" cy="31306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29DF89-9EC6-4B7A-B6FC-79D9E133D4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2308" y="3798471"/>
            <a:ext cx="4126324" cy="286443"/>
          </a:xfrm>
          <a:prstGeom prst="rect">
            <a:avLst/>
          </a:prstGeom>
        </p:spPr>
      </p:pic>
      <p:pic>
        <p:nvPicPr>
          <p:cNvPr id="16" name="Picture 15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B9407766-D8B4-4B9F-8C5B-66B57D76EC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763" y="3922092"/>
            <a:ext cx="4438717" cy="310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29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18090B-934C-42BE-9143-84D6116885F6}"/>
              </a:ext>
            </a:extLst>
          </p:cNvPr>
          <p:cNvSpPr txBox="1"/>
          <p:nvPr/>
        </p:nvSpPr>
        <p:spPr>
          <a:xfrm>
            <a:off x="416560" y="1140478"/>
            <a:ext cx="6381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Underfitting and Overfitting</a:t>
            </a:r>
            <a:endParaRPr lang="en-US" sz="2400" b="1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61C44F5-C9B8-490C-A01B-E5E65DE8C8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ea typeface="ＭＳ Ｐゴシック" charset="-128"/>
              </a:rPr>
              <a:t>Back Testing Result</a:t>
            </a:r>
          </a:p>
        </p:txBody>
      </p:sp>
      <p:pic>
        <p:nvPicPr>
          <p:cNvPr id="7" name="Picture 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4A50E93D-0E92-4E25-B501-751936052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69" y="1981200"/>
            <a:ext cx="3571875" cy="2438400"/>
          </a:xfrm>
          <a:prstGeom prst="rect">
            <a:avLst/>
          </a:prstGeom>
        </p:spPr>
      </p:pic>
      <p:pic>
        <p:nvPicPr>
          <p:cNvPr id="9" name="Picture 8" descr="A close up of a mans face&#10;&#10;Description generated with high confidence">
            <a:extLst>
              <a:ext uri="{FF2B5EF4-FFF2-40B4-BE49-F238E27FC236}">
                <a16:creationId xmlns:a16="http://schemas.microsoft.com/office/drawing/2014/main" id="{02851B20-3BD7-49E3-88DC-6955EED070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744" y="1981200"/>
            <a:ext cx="3571875" cy="2438400"/>
          </a:xfrm>
          <a:prstGeom prst="rect">
            <a:avLst/>
          </a:prstGeom>
        </p:spPr>
      </p:pic>
      <p:pic>
        <p:nvPicPr>
          <p:cNvPr id="11" name="Picture 10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5EEEAD12-760D-487E-A6B8-420156DAF8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" y="4304071"/>
            <a:ext cx="3543300" cy="2438400"/>
          </a:xfrm>
          <a:prstGeom prst="rect">
            <a:avLst/>
          </a:prstGeom>
        </p:spPr>
      </p:pic>
      <p:pic>
        <p:nvPicPr>
          <p:cNvPr id="13" name="Picture 12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D3B55491-52AD-476C-B817-4A6AC065A0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6743" y="4308987"/>
            <a:ext cx="3571875" cy="2438400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04FB08E-B94E-4A8D-ADA3-CBFDB962D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825033"/>
              </p:ext>
            </p:extLst>
          </p:nvPr>
        </p:nvGraphicFramePr>
        <p:xfrm>
          <a:off x="7739406" y="3200400"/>
          <a:ext cx="4227130" cy="1624452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845426">
                  <a:extLst>
                    <a:ext uri="{9D8B030D-6E8A-4147-A177-3AD203B41FA5}">
                      <a16:colId xmlns:a16="http://schemas.microsoft.com/office/drawing/2014/main" val="942322113"/>
                    </a:ext>
                  </a:extLst>
                </a:gridCol>
                <a:gridCol w="845426">
                  <a:extLst>
                    <a:ext uri="{9D8B030D-6E8A-4147-A177-3AD203B41FA5}">
                      <a16:colId xmlns:a16="http://schemas.microsoft.com/office/drawing/2014/main" val="1733090809"/>
                    </a:ext>
                  </a:extLst>
                </a:gridCol>
                <a:gridCol w="845426">
                  <a:extLst>
                    <a:ext uri="{9D8B030D-6E8A-4147-A177-3AD203B41FA5}">
                      <a16:colId xmlns:a16="http://schemas.microsoft.com/office/drawing/2014/main" val="2475419842"/>
                    </a:ext>
                  </a:extLst>
                </a:gridCol>
                <a:gridCol w="845426">
                  <a:extLst>
                    <a:ext uri="{9D8B030D-6E8A-4147-A177-3AD203B41FA5}">
                      <a16:colId xmlns:a16="http://schemas.microsoft.com/office/drawing/2014/main" val="2848989547"/>
                    </a:ext>
                  </a:extLst>
                </a:gridCol>
                <a:gridCol w="845426">
                  <a:extLst>
                    <a:ext uri="{9D8B030D-6E8A-4147-A177-3AD203B41FA5}">
                      <a16:colId xmlns:a16="http://schemas.microsoft.com/office/drawing/2014/main" val="937660177"/>
                    </a:ext>
                  </a:extLst>
                </a:gridCol>
              </a:tblGrid>
              <a:tr h="40611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Epoch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50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70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100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150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1854765"/>
                  </a:ext>
                </a:extLst>
              </a:tr>
              <a:tr h="40611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Sharpe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0.4221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0.6118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0.9116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0.8500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8038211"/>
                  </a:ext>
                </a:extLst>
              </a:tr>
              <a:tr h="40611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MDD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-30.50%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609585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-29.85%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-29.63%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-17.89%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2796956"/>
                  </a:ext>
                </a:extLst>
              </a:tr>
              <a:tr h="40611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CR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161%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347%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1004%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302%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9137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4240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Placeholder 2"/>
          <p:cNvSpPr>
            <a:spLocks noGrp="1"/>
          </p:cNvSpPr>
          <p:nvPr>
            <p:ph type="body" sz="quarter" idx="14"/>
          </p:nvPr>
        </p:nvSpPr>
        <p:spPr bwMode="auto">
          <a:xfrm>
            <a:off x="8240713" y="302896"/>
            <a:ext cx="3653367" cy="3534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ea typeface="ＭＳ Ｐゴシック" charset="-128"/>
              </a:rPr>
              <a:t>Back Testing Result</a:t>
            </a:r>
          </a:p>
        </p:txBody>
      </p:sp>
      <p:sp>
        <p:nvSpPr>
          <p:cNvPr id="19461" name="Slide Number Placeholder 4"/>
          <p:cNvSpPr>
            <a:spLocks noGrp="1"/>
          </p:cNvSpPr>
          <p:nvPr>
            <p:ph type="sldNum" sz="quarter" idx="16"/>
          </p:nvPr>
        </p:nvSpPr>
        <p:spPr bwMode="auto">
          <a:xfrm>
            <a:off x="8742362" y="6354446"/>
            <a:ext cx="2844800" cy="36618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335271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962301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457188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5181470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8AAE698-141F-5745-8ADE-AB0B3D722535}" type="slidenum">
              <a:rPr lang="en-US" altLang="en-US">
                <a:solidFill>
                  <a:srgbClr val="898989"/>
                </a:solidFill>
              </a:rPr>
              <a:pPr/>
              <a:t>23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2045" y="1170242"/>
            <a:ext cx="7702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Long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the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top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stock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in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the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winning/losing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group</a:t>
            </a:r>
            <a:endParaRPr lang="en-US" sz="2400" b="1" dirty="0"/>
          </a:p>
        </p:txBody>
      </p:sp>
      <p:pic>
        <p:nvPicPr>
          <p:cNvPr id="3" name="Picture 2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1B547BBB-65A2-434F-94E8-53875779A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1" y="3715103"/>
            <a:ext cx="4462515" cy="3098327"/>
          </a:xfrm>
          <a:prstGeom prst="rect">
            <a:avLst/>
          </a:prstGeom>
        </p:spPr>
      </p:pic>
      <p:pic>
        <p:nvPicPr>
          <p:cNvPr id="7" name="Picture 6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825DEAFF-8547-4608-906B-4CE2B62BB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698" y="3715103"/>
            <a:ext cx="4421962" cy="3118648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95AD17-5AF5-4E70-A3D1-A8744C215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962086"/>
              </p:ext>
            </p:extLst>
          </p:nvPr>
        </p:nvGraphicFramePr>
        <p:xfrm>
          <a:off x="1119040" y="1955973"/>
          <a:ext cx="9953920" cy="1517805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2488480">
                  <a:extLst>
                    <a:ext uri="{9D8B030D-6E8A-4147-A177-3AD203B41FA5}">
                      <a16:colId xmlns:a16="http://schemas.microsoft.com/office/drawing/2014/main" val="2975214891"/>
                    </a:ext>
                  </a:extLst>
                </a:gridCol>
                <a:gridCol w="2488480">
                  <a:extLst>
                    <a:ext uri="{9D8B030D-6E8A-4147-A177-3AD203B41FA5}">
                      <a16:colId xmlns:a16="http://schemas.microsoft.com/office/drawing/2014/main" val="3315279667"/>
                    </a:ext>
                  </a:extLst>
                </a:gridCol>
                <a:gridCol w="2488480">
                  <a:extLst>
                    <a:ext uri="{9D8B030D-6E8A-4147-A177-3AD203B41FA5}">
                      <a16:colId xmlns:a16="http://schemas.microsoft.com/office/drawing/2014/main" val="2725561852"/>
                    </a:ext>
                  </a:extLst>
                </a:gridCol>
                <a:gridCol w="2488480">
                  <a:extLst>
                    <a:ext uri="{9D8B030D-6E8A-4147-A177-3AD203B41FA5}">
                      <a16:colId xmlns:a16="http://schemas.microsoft.com/office/drawing/2014/main" val="60983421"/>
                    </a:ext>
                  </a:extLst>
                </a:gridCol>
              </a:tblGrid>
              <a:tr h="30356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LSTM (Long 1+1)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LSTM (Long 2+2)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Benchmark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6156099"/>
                  </a:ext>
                </a:extLst>
              </a:tr>
              <a:tr h="30356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Sharpe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1.3010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1.2891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1.10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2325018"/>
                  </a:ext>
                </a:extLst>
              </a:tr>
              <a:tr h="30356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Maximum Drawdown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-18.51%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-14.38%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-18.67%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2404473"/>
                  </a:ext>
                </a:extLst>
              </a:tr>
              <a:tr h="30356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Annualized Return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39.11%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29.70%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16.23%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8498184"/>
                  </a:ext>
                </a:extLst>
              </a:tr>
              <a:tr h="30356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Cumulative Return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1302%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701%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233%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66078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919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Placeholder 2"/>
          <p:cNvSpPr>
            <a:spLocks noGrp="1"/>
          </p:cNvSpPr>
          <p:nvPr>
            <p:ph type="body" sz="quarter" idx="14"/>
          </p:nvPr>
        </p:nvSpPr>
        <p:spPr bwMode="auto">
          <a:xfrm>
            <a:off x="8235951" y="304801"/>
            <a:ext cx="3653367" cy="3534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zh-CN" dirty="0">
                <a:ea typeface="ＭＳ Ｐゴシック" charset="-128"/>
              </a:rPr>
              <a:t>Conclusion</a:t>
            </a:r>
            <a:r>
              <a:rPr lang="zh-CN" altLang="en-US" dirty="0">
                <a:ea typeface="ＭＳ Ｐゴシック" charset="-128"/>
              </a:rPr>
              <a:t> </a:t>
            </a:r>
            <a:r>
              <a:rPr lang="en-US" altLang="zh-CN" dirty="0">
                <a:ea typeface="ＭＳ Ｐゴシック" charset="-128"/>
              </a:rPr>
              <a:t>&amp;</a:t>
            </a:r>
            <a:r>
              <a:rPr lang="zh-CN" altLang="en-US" dirty="0">
                <a:ea typeface="ＭＳ Ｐゴシック" charset="-128"/>
              </a:rPr>
              <a:t> </a:t>
            </a:r>
            <a:r>
              <a:rPr lang="en-US" altLang="zh-CN" dirty="0">
                <a:ea typeface="ＭＳ Ｐゴシック" charset="-128"/>
              </a:rPr>
              <a:t>Extension</a:t>
            </a:r>
            <a:endParaRPr lang="en-US" altLang="en-US" dirty="0">
              <a:ea typeface="ＭＳ Ｐゴシック" charset="-128"/>
            </a:endParaRPr>
          </a:p>
        </p:txBody>
      </p:sp>
      <p:sp>
        <p:nvSpPr>
          <p:cNvPr id="19461" name="Slide Number Placeholder 4"/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990575" indent="-380990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523962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2133547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743131" indent="-304792"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335271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3962301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4571886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5181470" indent="-304792" defTabSz="60958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8AAE698-141F-5745-8ADE-AB0B3D722535}" type="slidenum">
              <a:rPr lang="en-US" altLang="en-US">
                <a:solidFill>
                  <a:srgbClr val="898989"/>
                </a:solidFill>
              </a:rPr>
              <a:pPr/>
              <a:t>24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80110" y="1542608"/>
            <a:ext cx="10702290" cy="4374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Conclusion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/>
              <a:t>LSTM</a:t>
            </a:r>
            <a:r>
              <a:rPr lang="zh-CN" altLang="en-US" sz="2000" dirty="0"/>
              <a:t> </a:t>
            </a:r>
            <a:r>
              <a:rPr lang="en-US" altLang="zh-CN" sz="2000" dirty="0"/>
              <a:t>performs</a:t>
            </a:r>
            <a:r>
              <a:rPr lang="zh-CN" altLang="en-US" sz="2000" dirty="0"/>
              <a:t> </a:t>
            </a:r>
            <a:r>
              <a:rPr lang="en-US" altLang="zh-CN" sz="2000" dirty="0"/>
              <a:t>well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classification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time</a:t>
            </a:r>
            <a:r>
              <a:rPr lang="zh-CN" altLang="en-US" sz="2000" dirty="0"/>
              <a:t> </a:t>
            </a:r>
            <a:r>
              <a:rPr lang="en-US" altLang="zh-CN" sz="2000" dirty="0"/>
              <a:t>series</a:t>
            </a:r>
            <a:r>
              <a:rPr lang="zh-CN" altLang="en-US" sz="2000" dirty="0"/>
              <a:t> </a:t>
            </a:r>
            <a:r>
              <a:rPr lang="en-US" altLang="zh-CN" sz="2000" dirty="0"/>
              <a:t>data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/>
              <a:t>Portfolios</a:t>
            </a:r>
            <a:r>
              <a:rPr lang="zh-CN" altLang="en-US" sz="2000" dirty="0"/>
              <a:t> </a:t>
            </a:r>
            <a:r>
              <a:rPr lang="en-US" altLang="zh-CN" sz="2000" dirty="0"/>
              <a:t>constructed</a:t>
            </a:r>
            <a:r>
              <a:rPr lang="zh-CN" altLang="en-US" sz="2000" dirty="0"/>
              <a:t> </a:t>
            </a:r>
            <a:r>
              <a:rPr lang="en-US" altLang="zh-CN" sz="2000" dirty="0"/>
              <a:t>based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LSTM</a:t>
            </a:r>
            <a:r>
              <a:rPr lang="zh-CN" altLang="en-US" sz="2000" dirty="0"/>
              <a:t> </a:t>
            </a:r>
            <a:r>
              <a:rPr lang="en-US" altLang="zh-CN" sz="2000" dirty="0"/>
              <a:t>prediction</a:t>
            </a:r>
            <a:r>
              <a:rPr lang="zh-CN" altLang="en-US" sz="2000" dirty="0"/>
              <a:t> </a:t>
            </a:r>
            <a:r>
              <a:rPr lang="en-US" altLang="zh-CN" sz="2000" dirty="0"/>
              <a:t>outperform</a:t>
            </a:r>
            <a:r>
              <a:rPr lang="zh-CN" altLang="en-US" sz="2000" dirty="0"/>
              <a:t> </a:t>
            </a:r>
            <a:r>
              <a:rPr lang="en-US" altLang="zh-CN" sz="2000" dirty="0"/>
              <a:t>benchmark</a:t>
            </a:r>
            <a:r>
              <a:rPr lang="zh-CN" altLang="en-US" sz="2000" dirty="0"/>
              <a:t> </a:t>
            </a:r>
            <a:r>
              <a:rPr lang="en-US" altLang="zh-CN" sz="2000" dirty="0"/>
              <a:t>portfolio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400" b="1" dirty="0"/>
              <a:t>Extension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/>
              <a:t>With</a:t>
            </a:r>
            <a:r>
              <a:rPr lang="zh-CN" altLang="en-US" sz="2000" dirty="0"/>
              <a:t> </a:t>
            </a:r>
            <a:r>
              <a:rPr lang="en-US" altLang="zh-CN" sz="2000" dirty="0"/>
              <a:t>more</a:t>
            </a:r>
            <a:r>
              <a:rPr lang="zh-CN" altLang="en-US" sz="2000" dirty="0"/>
              <a:t> </a:t>
            </a:r>
            <a:r>
              <a:rPr lang="en-US" altLang="zh-CN" sz="2000" dirty="0"/>
              <a:t>computation</a:t>
            </a:r>
            <a:r>
              <a:rPr lang="zh-CN" altLang="en-US" sz="2000" dirty="0"/>
              <a:t> </a:t>
            </a:r>
            <a:r>
              <a:rPr lang="en-US" altLang="zh-CN" sz="2000" dirty="0"/>
              <a:t>resource</a:t>
            </a:r>
            <a:r>
              <a:rPr lang="zh-CN" altLang="en-US" sz="2000" dirty="0"/>
              <a:t> </a:t>
            </a:r>
            <a:r>
              <a:rPr lang="en-US" altLang="zh-CN" sz="2000" dirty="0"/>
              <a:t>(i.e.</a:t>
            </a:r>
            <a:r>
              <a:rPr lang="zh-CN" altLang="en-US" sz="2000" dirty="0"/>
              <a:t> </a:t>
            </a:r>
            <a:r>
              <a:rPr lang="en-US" altLang="zh-CN" sz="2000" dirty="0"/>
              <a:t>Cloud),</a:t>
            </a:r>
            <a:r>
              <a:rPr lang="zh-CN" altLang="en-US" sz="2000" dirty="0"/>
              <a:t> </a:t>
            </a:r>
            <a:r>
              <a:rPr lang="en-US" altLang="zh-CN" sz="2000" dirty="0"/>
              <a:t>we</a:t>
            </a:r>
            <a:r>
              <a:rPr lang="zh-CN" altLang="en-US" sz="2000" dirty="0"/>
              <a:t> </a:t>
            </a:r>
            <a:r>
              <a:rPr lang="en-US" altLang="zh-CN" sz="2000" dirty="0"/>
              <a:t>can</a:t>
            </a:r>
            <a:r>
              <a:rPr lang="zh-CN" altLang="en-US" sz="2000" dirty="0"/>
              <a:t> </a:t>
            </a:r>
            <a:r>
              <a:rPr lang="en-US" altLang="zh-CN" sz="2000" dirty="0"/>
              <a:t>extend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stocks</a:t>
            </a:r>
            <a:r>
              <a:rPr lang="zh-CN" altLang="en-US" sz="2000" dirty="0"/>
              <a:t> </a:t>
            </a:r>
            <a:r>
              <a:rPr lang="en-US" altLang="zh-CN" sz="2000" dirty="0"/>
              <a:t>pool</a:t>
            </a:r>
            <a:r>
              <a:rPr lang="zh-CN" altLang="en-US" sz="2000" dirty="0"/>
              <a:t> </a:t>
            </a:r>
            <a:r>
              <a:rPr lang="en-US" altLang="zh-CN" sz="2000" dirty="0"/>
              <a:t>from</a:t>
            </a:r>
            <a:r>
              <a:rPr lang="zh-CN" altLang="en-US" sz="2000" dirty="0"/>
              <a:t> </a:t>
            </a:r>
            <a:r>
              <a:rPr lang="en-US" altLang="zh-CN" sz="2000" dirty="0"/>
              <a:t>54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500</a:t>
            </a:r>
            <a:r>
              <a:rPr lang="zh-CN" altLang="en-US" sz="2000" dirty="0"/>
              <a:t> </a:t>
            </a:r>
            <a:r>
              <a:rPr lang="en-US" altLang="zh-CN" sz="2000" dirty="0"/>
              <a:t>or</a:t>
            </a:r>
            <a:r>
              <a:rPr lang="zh-CN" altLang="en-US" sz="2000" dirty="0"/>
              <a:t> </a:t>
            </a:r>
            <a:r>
              <a:rPr lang="en-US" altLang="zh-CN" sz="2000" dirty="0"/>
              <a:t>even</a:t>
            </a:r>
            <a:r>
              <a:rPr lang="zh-CN" altLang="en-US" sz="2000" dirty="0"/>
              <a:t> </a:t>
            </a:r>
            <a:r>
              <a:rPr lang="en-US" altLang="zh-CN" sz="2000" dirty="0"/>
              <a:t>more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/>
              <a:t>As</a:t>
            </a:r>
            <a:r>
              <a:rPr lang="zh-CN" altLang="en-US" sz="2000" dirty="0"/>
              <a:t> </a:t>
            </a:r>
            <a:r>
              <a:rPr lang="en-US" altLang="zh-CN" sz="2000" dirty="0"/>
              <a:t>stocks</a:t>
            </a:r>
            <a:r>
              <a:rPr lang="zh-CN" altLang="en-US" sz="2000" dirty="0"/>
              <a:t> </a:t>
            </a:r>
            <a:r>
              <a:rPr lang="en-US" altLang="zh-CN" sz="2000" dirty="0"/>
              <a:t>pool</a:t>
            </a:r>
            <a:r>
              <a:rPr lang="zh-CN" altLang="en-US" sz="2000" dirty="0"/>
              <a:t> </a:t>
            </a:r>
            <a:r>
              <a:rPr lang="en-US" altLang="zh-CN" sz="2000" dirty="0"/>
              <a:t>become</a:t>
            </a:r>
            <a:r>
              <a:rPr lang="zh-CN" altLang="en-US" sz="2000" dirty="0"/>
              <a:t> </a:t>
            </a:r>
            <a:r>
              <a:rPr lang="en-US" altLang="zh-CN" sz="2000" dirty="0"/>
              <a:t>large,</a:t>
            </a:r>
            <a:r>
              <a:rPr lang="zh-CN" altLang="en-US" sz="2000" dirty="0"/>
              <a:t> </a:t>
            </a:r>
            <a:r>
              <a:rPr lang="en-US" altLang="zh-CN" sz="2000" dirty="0"/>
              <a:t>we</a:t>
            </a:r>
            <a:r>
              <a:rPr lang="zh-CN" altLang="en-US" sz="2000" dirty="0"/>
              <a:t> </a:t>
            </a:r>
            <a:r>
              <a:rPr lang="en-US" altLang="zh-CN" sz="2000" dirty="0"/>
              <a:t>can</a:t>
            </a:r>
            <a:r>
              <a:rPr lang="zh-CN" altLang="en-US" sz="2000" dirty="0"/>
              <a:t> </a:t>
            </a:r>
            <a:r>
              <a:rPr lang="en-US" altLang="zh-CN" sz="2000" dirty="0"/>
              <a:t>include</a:t>
            </a:r>
            <a:r>
              <a:rPr lang="zh-CN" altLang="en-US" sz="2000" dirty="0"/>
              <a:t> </a:t>
            </a:r>
            <a:r>
              <a:rPr lang="en-US" altLang="zh-CN" sz="2000" dirty="0"/>
              <a:t>more</a:t>
            </a:r>
            <a:r>
              <a:rPr lang="zh-CN" altLang="en-US" sz="2000" dirty="0"/>
              <a:t> </a:t>
            </a:r>
            <a:r>
              <a:rPr lang="en-US" altLang="zh-CN" sz="2000" dirty="0"/>
              <a:t>stocks</a:t>
            </a:r>
            <a:r>
              <a:rPr lang="zh-CN" altLang="en-US" sz="2000" dirty="0"/>
              <a:t> </a:t>
            </a:r>
            <a:r>
              <a:rPr lang="en-US" altLang="zh-CN" sz="2000" dirty="0"/>
              <a:t>while</a:t>
            </a:r>
            <a:r>
              <a:rPr lang="zh-CN" altLang="en-US" sz="2000" dirty="0"/>
              <a:t> </a:t>
            </a:r>
            <a:r>
              <a:rPr lang="en-US" altLang="zh-CN" sz="2000" dirty="0"/>
              <a:t>constructing</a:t>
            </a:r>
            <a:r>
              <a:rPr lang="zh-CN" altLang="en-US" sz="2000" dirty="0"/>
              <a:t> </a:t>
            </a:r>
            <a:r>
              <a:rPr lang="en-US" altLang="zh-CN" sz="2000" dirty="0"/>
              <a:t>portfolio,</a:t>
            </a:r>
            <a:r>
              <a:rPr lang="zh-CN" altLang="en-US" sz="2000" dirty="0"/>
              <a:t> </a:t>
            </a:r>
            <a:r>
              <a:rPr lang="en-US" altLang="zh-CN" sz="2000" dirty="0"/>
              <a:t>leading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diversification</a:t>
            </a:r>
            <a:r>
              <a:rPr lang="zh-CN" altLang="en-US" sz="2000" dirty="0"/>
              <a:t> </a:t>
            </a:r>
            <a:r>
              <a:rPr lang="en-US" altLang="zh-CN" sz="2000" dirty="0"/>
              <a:t>advantage</a:t>
            </a:r>
            <a:r>
              <a:rPr lang="zh-CN" altLang="en-US" sz="2000" dirty="0"/>
              <a:t> </a:t>
            </a:r>
            <a:r>
              <a:rPr lang="mr-IN" altLang="zh-CN" sz="2000" dirty="0"/>
              <a:t>–</a:t>
            </a:r>
            <a:r>
              <a:rPr lang="zh-CN" altLang="en-US" sz="2000" dirty="0"/>
              <a:t> </a:t>
            </a:r>
            <a:r>
              <a:rPr lang="en-US" altLang="zh-CN" sz="2000" dirty="0"/>
              <a:t>higher</a:t>
            </a:r>
            <a:r>
              <a:rPr lang="zh-CN" altLang="en-US" sz="2000" dirty="0"/>
              <a:t> </a:t>
            </a:r>
            <a:r>
              <a:rPr lang="en-US" altLang="zh-CN" sz="2000" dirty="0"/>
              <a:t>Sharpe</a:t>
            </a:r>
            <a:r>
              <a:rPr lang="zh-CN" altLang="en-US" sz="2000" dirty="0"/>
              <a:t> </a:t>
            </a:r>
            <a:r>
              <a:rPr lang="en-US" altLang="zh-CN" sz="2000" dirty="0"/>
              <a:t>Ratio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lower</a:t>
            </a:r>
            <a:r>
              <a:rPr lang="zh-CN" altLang="en-US" sz="2000" dirty="0"/>
              <a:t> </a:t>
            </a:r>
            <a:r>
              <a:rPr lang="en-US" altLang="zh-CN" sz="2000" dirty="0"/>
              <a:t>risk</a:t>
            </a:r>
            <a:r>
              <a:rPr lang="zh-CN" altLang="en-US" sz="2000" dirty="0"/>
              <a:t>  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04765731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1" id="{0B93BBEC-53D3-4386-8157-F9585CA726B3}" vid="{4DDB1785-7D0D-440C-B408-5BF05EF482D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8860</TotalTime>
  <Words>1056</Words>
  <Application>Microsoft Office PowerPoint</Application>
  <PresentationFormat>Widescreen</PresentationFormat>
  <Paragraphs>278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ＭＳ Ｐゴシック</vt:lpstr>
      <vt:lpstr>等线</vt:lpstr>
      <vt:lpstr>黑体</vt:lpstr>
      <vt:lpstr>Arial</vt:lpstr>
      <vt:lpstr>Calibri</vt:lpstr>
      <vt:lpstr>Courier New</vt:lpstr>
      <vt:lpstr>Mangal</vt:lpstr>
      <vt:lpstr>Times New Roman</vt:lpstr>
      <vt:lpstr>Wingdings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Asha Paul Matthei</dc:creator>
  <cp:lastModifiedBy>Tiancheng Hou</cp:lastModifiedBy>
  <cp:revision>228</cp:revision>
  <dcterms:created xsi:type="dcterms:W3CDTF">2015-09-15T14:49:19Z</dcterms:created>
  <dcterms:modified xsi:type="dcterms:W3CDTF">2018-05-15T01:16:49Z</dcterms:modified>
</cp:coreProperties>
</file>